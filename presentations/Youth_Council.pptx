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3.xml" ContentType="application/vnd.openxmlformats-officedocument.presentationml.slide+xml"/>
  <Override PartName="/ppt/slides/slide8.xml" ContentType="application/vnd.openxmlformats-officedocument.presentationml.slide+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viewProps.xml" ContentType="application/vnd.openxmlformats-officedocument.presentationml.viewProps+xml"/>
  <Override PartName="/ppt/slideMasters/slideMaster1.xml" ContentType="application/vnd.openxmlformats-officedocument.presentationml.slideMaster+xml"/>
  <Override PartName="/ppt/presProps.xml" ContentType="application/vnd.openxmlformats-officedocument.presentationml.presProps+xml"/>
  <Override PartName="/ppt/slides/slide4.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presentation.xml" ContentType="application/vnd.openxmlformats-officedocument.presentationml.presentation.main+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3.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Bernoru" panose="020B0604020202020204" charset="0"/>
      <p:regular r:id="rId16"/>
    </p:embeddedFont>
    <p:embeddedFont>
      <p:font typeface="Poppins" panose="00000500000000000000" pitchFamily="2" charset="0"/>
      <p:regular r:id="rId17"/>
    </p:embeddedFont>
    <p:embeddedFont>
      <p:font typeface="Poppins Bold" panose="00000800000000000000" charset="0"/>
      <p:regular r:id="rId18"/>
    </p:embeddedFont>
    <p:embeddedFont>
      <p:font typeface="Rubik Vinyl" panose="020B0604020202020204" charset="-79"/>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7" d="100"/>
          <a:sy n="77" d="100"/>
        </p:scale>
        <p:origin x="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Bristol City Youth Council is a group of 29 elected young people voted in by young people from across Bristol.  Broken down into 3 areas: North, South and East Central.​ </a:t>
            </a:r>
          </a:p>
          <a:p>
            <a:endParaRPr lang="en-US"/>
          </a:p>
          <a:p>
            <a:r>
              <a:rPr lang="en-US"/>
              <a:t>Youth Councillors are elected for a 2 year term </a:t>
            </a:r>
          </a:p>
          <a:p>
            <a:r>
              <a:rPr lang="en-US"/>
              <a:t>This Youth Council will be in term from 2026-2028</a:t>
            </a:r>
          </a:p>
          <a:p>
            <a:endParaRPr lang="en-US"/>
          </a:p>
          <a:p>
            <a:r>
              <a:rPr lang="en-US"/>
              <a:t>18 young people are elected through the</a:t>
            </a:r>
          </a:p>
          <a:p>
            <a:r>
              <a:rPr lang="en-US"/>
              <a:t>       Bristol Youth Elections in schools and youth organisations.</a:t>
            </a:r>
          </a:p>
          <a:p>
            <a:r>
              <a:rPr lang="en-US"/>
              <a:t>6 young people are elected locally in their areas.</a:t>
            </a:r>
          </a:p>
          <a:p>
            <a:r>
              <a:rPr lang="en-US"/>
              <a:t>5 young people are elected through their equality groups.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566E68F8-5F6C-D436-7150-AA12A9C92CCB}"/>
              </a:ext>
            </a:extLst>
          </p:cNvPr>
          <p:cNvSpPr txBox="1"/>
          <p:nvPr userDrawn="1">
            <p:extLst>
              <p:ext uri="{1162E1C5-73C7-4A58-AE30-91384D911F3F}">
                <p184:classification xmlns:p184="http://schemas.microsoft.com/office/powerpoint/2018/4/main" val="ftr"/>
              </p:ext>
            </p:extLst>
          </p:nvPr>
        </p:nvSpPr>
        <p:spPr>
          <a:xfrm>
            <a:off x="63500" y="10071100"/>
            <a:ext cx="544513"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OFFICIAL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svg"/></Relationships>
</file>

<file path=ppt/slides/_rels/slide5.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svg"/><Relationship Id="rId7"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jpeg"/><Relationship Id="rId18" Type="http://schemas.openxmlformats.org/officeDocument/2006/relationships/image" Target="../media/image32.jpeg"/><Relationship Id="rId3" Type="http://schemas.openxmlformats.org/officeDocument/2006/relationships/image" Target="../media/image1.sv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jpeg"/><Relationship Id="rId2" Type="http://schemas.openxmlformats.org/officeDocument/2006/relationships/image" Target="../media/image2.png"/><Relationship Id="rId16" Type="http://schemas.openxmlformats.org/officeDocument/2006/relationships/image" Target="../media/image30.jpe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png"/><Relationship Id="rId15" Type="http://schemas.openxmlformats.org/officeDocument/2006/relationships/image" Target="../media/image2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jpe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2886391" y="-1956229"/>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sp>
        <p:nvSpPr>
          <p:cNvPr id="3" name="Freeform 3"/>
          <p:cNvSpPr/>
          <p:nvPr/>
        </p:nvSpPr>
        <p:spPr>
          <a:xfrm>
            <a:off x="13344209" y="5090672"/>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sp>
        <p:nvSpPr>
          <p:cNvPr id="4" name="Freeform 4"/>
          <p:cNvSpPr/>
          <p:nvPr/>
        </p:nvSpPr>
        <p:spPr>
          <a:xfrm>
            <a:off x="11498886" y="9525"/>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3"/>
            <a:stretch>
              <a:fillRect/>
            </a:stretch>
          </a:blipFill>
        </p:spPr>
        <p:txBody>
          <a:bodyPr/>
          <a:lstStyle/>
          <a:p>
            <a:endParaRPr lang="en-GB"/>
          </a:p>
        </p:txBody>
      </p:sp>
      <p:grpSp>
        <p:nvGrpSpPr>
          <p:cNvPr id="5" name="Group 5"/>
          <p:cNvGrpSpPr/>
          <p:nvPr/>
        </p:nvGrpSpPr>
        <p:grpSpPr>
          <a:xfrm>
            <a:off x="5806676" y="3139029"/>
            <a:ext cx="7273636" cy="4585497"/>
            <a:chOff x="0" y="0"/>
            <a:chExt cx="2167467" cy="1366430"/>
          </a:xfrm>
        </p:grpSpPr>
        <p:sp>
          <p:nvSpPr>
            <p:cNvPr id="6" name="Freeform 6"/>
            <p:cNvSpPr/>
            <p:nvPr/>
          </p:nvSpPr>
          <p:spPr>
            <a:xfrm>
              <a:off x="0" y="0"/>
              <a:ext cx="2167467" cy="1366430"/>
            </a:xfrm>
            <a:custGeom>
              <a:avLst/>
              <a:gdLst/>
              <a:ahLst/>
              <a:cxnLst/>
              <a:rect l="l" t="t" r="r" b="b"/>
              <a:pathLst>
                <a:path w="2167467" h="1366430">
                  <a:moveTo>
                    <a:pt x="0" y="0"/>
                  </a:moveTo>
                  <a:lnTo>
                    <a:pt x="2167467" y="0"/>
                  </a:lnTo>
                  <a:lnTo>
                    <a:pt x="2167467" y="1366430"/>
                  </a:lnTo>
                  <a:lnTo>
                    <a:pt x="0" y="1366430"/>
                  </a:lnTo>
                  <a:close/>
                </a:path>
              </a:pathLst>
            </a:custGeom>
            <a:solidFill>
              <a:srgbClr val="339B84"/>
            </a:solidFill>
            <a:ln w="38100" cap="sq">
              <a:solidFill>
                <a:srgbClr val="000000"/>
              </a:solidFill>
              <a:prstDash val="solid"/>
              <a:miter/>
            </a:ln>
          </p:spPr>
          <p:txBody>
            <a:bodyPr/>
            <a:lstStyle/>
            <a:p>
              <a:endParaRPr lang="en-GB"/>
            </a:p>
          </p:txBody>
        </p:sp>
        <p:sp>
          <p:nvSpPr>
            <p:cNvPr id="7" name="TextBox 7"/>
            <p:cNvSpPr txBox="1"/>
            <p:nvPr/>
          </p:nvSpPr>
          <p:spPr>
            <a:xfrm>
              <a:off x="0" y="-57150"/>
              <a:ext cx="2167467" cy="1423580"/>
            </a:xfrm>
            <a:prstGeom prst="rect">
              <a:avLst/>
            </a:prstGeom>
          </p:spPr>
          <p:txBody>
            <a:bodyPr lIns="43198" tIns="43198" rIns="43198" bIns="43198" rtlCol="0" anchor="ctr"/>
            <a:lstStyle/>
            <a:p>
              <a:pPr algn="ctr">
                <a:lnSpc>
                  <a:spcPts val="2381"/>
                </a:lnSpc>
                <a:spcBef>
                  <a:spcPct val="0"/>
                </a:spcBef>
              </a:pPr>
              <a:endParaRPr/>
            </a:p>
          </p:txBody>
        </p:sp>
      </p:grpSp>
      <p:grpSp>
        <p:nvGrpSpPr>
          <p:cNvPr id="8" name="Group 8"/>
          <p:cNvGrpSpPr/>
          <p:nvPr/>
        </p:nvGrpSpPr>
        <p:grpSpPr>
          <a:xfrm>
            <a:off x="5507182" y="3139029"/>
            <a:ext cx="7273636" cy="4277991"/>
            <a:chOff x="0" y="0"/>
            <a:chExt cx="2167467" cy="1274796"/>
          </a:xfrm>
        </p:grpSpPr>
        <p:sp>
          <p:nvSpPr>
            <p:cNvPr id="9" name="Freeform 9"/>
            <p:cNvSpPr/>
            <p:nvPr/>
          </p:nvSpPr>
          <p:spPr>
            <a:xfrm>
              <a:off x="0" y="0"/>
              <a:ext cx="2167467" cy="1274796"/>
            </a:xfrm>
            <a:custGeom>
              <a:avLst/>
              <a:gdLst/>
              <a:ahLst/>
              <a:cxnLst/>
              <a:rect l="l" t="t" r="r" b="b"/>
              <a:pathLst>
                <a:path w="2167467" h="1274796">
                  <a:moveTo>
                    <a:pt x="0" y="0"/>
                  </a:moveTo>
                  <a:lnTo>
                    <a:pt x="2167467" y="0"/>
                  </a:lnTo>
                  <a:lnTo>
                    <a:pt x="2167467" y="1274796"/>
                  </a:lnTo>
                  <a:lnTo>
                    <a:pt x="0" y="1274796"/>
                  </a:lnTo>
                  <a:close/>
                </a:path>
              </a:pathLst>
            </a:custGeom>
            <a:solidFill>
              <a:srgbClr val="0D5C42"/>
            </a:solidFill>
            <a:ln w="38100" cap="sq">
              <a:solidFill>
                <a:srgbClr val="000000"/>
              </a:solidFill>
              <a:prstDash val="solid"/>
              <a:miter/>
            </a:ln>
          </p:spPr>
          <p:txBody>
            <a:bodyPr/>
            <a:lstStyle/>
            <a:p>
              <a:endParaRPr lang="en-GB"/>
            </a:p>
          </p:txBody>
        </p:sp>
        <p:sp>
          <p:nvSpPr>
            <p:cNvPr id="10" name="TextBox 10"/>
            <p:cNvSpPr txBox="1"/>
            <p:nvPr/>
          </p:nvSpPr>
          <p:spPr>
            <a:xfrm>
              <a:off x="0" y="-57150"/>
              <a:ext cx="2167467" cy="1331946"/>
            </a:xfrm>
            <a:prstGeom prst="rect">
              <a:avLst/>
            </a:prstGeom>
          </p:spPr>
          <p:txBody>
            <a:bodyPr lIns="43198" tIns="43198" rIns="43198" bIns="43198" rtlCol="0" anchor="ctr"/>
            <a:lstStyle/>
            <a:p>
              <a:pPr algn="ctr">
                <a:lnSpc>
                  <a:spcPts val="2381"/>
                </a:lnSpc>
                <a:spcBef>
                  <a:spcPct val="0"/>
                </a:spcBef>
              </a:pPr>
              <a:endParaRPr/>
            </a:p>
          </p:txBody>
        </p:sp>
      </p:grpSp>
      <p:sp>
        <p:nvSpPr>
          <p:cNvPr id="11" name="Freeform 11"/>
          <p:cNvSpPr/>
          <p:nvPr/>
        </p:nvSpPr>
        <p:spPr>
          <a:xfrm>
            <a:off x="13551825" y="415741"/>
            <a:ext cx="4564725" cy="1239148"/>
          </a:xfrm>
          <a:custGeom>
            <a:avLst/>
            <a:gdLst/>
            <a:ahLst/>
            <a:cxnLst/>
            <a:rect l="l" t="t" r="r" b="b"/>
            <a:pathLst>
              <a:path w="4564725" h="1239148">
                <a:moveTo>
                  <a:pt x="0" y="0"/>
                </a:moveTo>
                <a:lnTo>
                  <a:pt x="4564725" y="0"/>
                </a:lnTo>
                <a:lnTo>
                  <a:pt x="4564725" y="1239148"/>
                </a:lnTo>
                <a:lnTo>
                  <a:pt x="0" y="1239148"/>
                </a:lnTo>
                <a:lnTo>
                  <a:pt x="0" y="0"/>
                </a:lnTo>
                <a:close/>
              </a:path>
            </a:pathLst>
          </a:custGeom>
          <a:blipFill>
            <a:blip r:embed="rId4"/>
            <a:stretch>
              <a:fillRect/>
            </a:stretch>
          </a:blipFill>
        </p:spPr>
        <p:txBody>
          <a:bodyPr/>
          <a:lstStyle/>
          <a:p>
            <a:endParaRPr lang="en-GB"/>
          </a:p>
        </p:txBody>
      </p:sp>
      <p:sp>
        <p:nvSpPr>
          <p:cNvPr id="12" name="TextBox 12"/>
          <p:cNvSpPr txBox="1"/>
          <p:nvPr/>
        </p:nvSpPr>
        <p:spPr>
          <a:xfrm>
            <a:off x="5507182" y="3630719"/>
            <a:ext cx="7273636" cy="3170786"/>
          </a:xfrm>
          <a:prstGeom prst="rect">
            <a:avLst/>
          </a:prstGeom>
        </p:spPr>
        <p:txBody>
          <a:bodyPr lIns="0" tIns="0" rIns="0" bIns="0" rtlCol="0" anchor="t">
            <a:spAutoFit/>
          </a:bodyPr>
          <a:lstStyle/>
          <a:p>
            <a:pPr algn="ctr">
              <a:lnSpc>
                <a:spcPts val="8455"/>
              </a:lnSpc>
            </a:pPr>
            <a:r>
              <a:rPr lang="en-US" sz="6039">
                <a:solidFill>
                  <a:srgbClr val="FFFFFF"/>
                </a:solidFill>
                <a:latin typeface="Bernoru"/>
                <a:ea typeface="Bernoru"/>
                <a:cs typeface="Bernoru"/>
                <a:sym typeface="Bernoru"/>
              </a:rPr>
              <a:t>BRISTOL</a:t>
            </a:r>
          </a:p>
          <a:p>
            <a:pPr algn="ctr">
              <a:lnSpc>
                <a:spcPts val="8458"/>
              </a:lnSpc>
            </a:pPr>
            <a:r>
              <a:rPr lang="en-US" sz="6041">
                <a:solidFill>
                  <a:srgbClr val="FFFFFF"/>
                </a:solidFill>
                <a:latin typeface="Bernoru"/>
                <a:ea typeface="Bernoru"/>
                <a:cs typeface="Bernoru"/>
                <a:sym typeface="Bernoru"/>
              </a:rPr>
              <a:t>CITY YOUTH</a:t>
            </a:r>
          </a:p>
          <a:p>
            <a:pPr algn="ctr">
              <a:lnSpc>
                <a:spcPts val="8458"/>
              </a:lnSpc>
            </a:pPr>
            <a:r>
              <a:rPr lang="en-US" sz="6041">
                <a:solidFill>
                  <a:srgbClr val="FFFFFF"/>
                </a:solidFill>
                <a:latin typeface="Bernoru"/>
                <a:ea typeface="Bernoru"/>
                <a:cs typeface="Bernoru"/>
                <a:sym typeface="Bernoru"/>
              </a:rPr>
              <a:t> COUNCIL</a:t>
            </a:r>
          </a:p>
        </p:txBody>
      </p:sp>
      <p:sp>
        <p:nvSpPr>
          <p:cNvPr id="13" name="TextBox 13"/>
          <p:cNvSpPr txBox="1"/>
          <p:nvPr/>
        </p:nvSpPr>
        <p:spPr>
          <a:xfrm>
            <a:off x="77000" y="7495926"/>
            <a:ext cx="5430182" cy="2638674"/>
          </a:xfrm>
          <a:prstGeom prst="rect">
            <a:avLst/>
          </a:prstGeom>
        </p:spPr>
        <p:txBody>
          <a:bodyPr lIns="0" tIns="0" rIns="0" bIns="0" rtlCol="0" anchor="t">
            <a:spAutoFit/>
          </a:bodyPr>
          <a:lstStyle/>
          <a:p>
            <a:pPr algn="ctr">
              <a:lnSpc>
                <a:spcPts val="5244"/>
              </a:lnSpc>
              <a:spcBef>
                <a:spcPct val="0"/>
              </a:spcBef>
            </a:pPr>
            <a:r>
              <a:rPr lang="en-US" sz="3745">
                <a:solidFill>
                  <a:srgbClr val="FFFFFF"/>
                </a:solidFill>
                <a:latin typeface="Rubik Vinyl"/>
                <a:ea typeface="Rubik Vinyl"/>
                <a:cs typeface="Rubik Vinyl"/>
                <a:sym typeface="Rubik Vinyl"/>
              </a:rPr>
              <a:t>Young People Stand</a:t>
            </a:r>
          </a:p>
          <a:p>
            <a:pPr algn="ctr">
              <a:lnSpc>
                <a:spcPts val="5244"/>
              </a:lnSpc>
              <a:spcBef>
                <a:spcPct val="0"/>
              </a:spcBef>
            </a:pPr>
            <a:r>
              <a:rPr lang="en-US" sz="3745">
                <a:solidFill>
                  <a:srgbClr val="FFFFFF"/>
                </a:solidFill>
                <a:latin typeface="Rubik Vinyl"/>
                <a:ea typeface="Rubik Vinyl"/>
                <a:cs typeface="Rubik Vinyl"/>
                <a:sym typeface="Rubik Vinyl"/>
              </a:rPr>
              <a:t>Young People Vote</a:t>
            </a:r>
          </a:p>
          <a:p>
            <a:pPr algn="ctr">
              <a:lnSpc>
                <a:spcPts val="5244"/>
              </a:lnSpc>
              <a:spcBef>
                <a:spcPct val="0"/>
              </a:spcBef>
            </a:pPr>
            <a:r>
              <a:rPr lang="en-US" sz="3745">
                <a:solidFill>
                  <a:srgbClr val="FFFFFF"/>
                </a:solidFill>
                <a:latin typeface="Rubik Vinyl"/>
                <a:ea typeface="Rubik Vinyl"/>
                <a:cs typeface="Rubik Vinyl"/>
                <a:sym typeface="Rubik Vinyl"/>
              </a:rPr>
              <a:t>Young People Represent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3262535" y="4909761"/>
            <a:ext cx="11762931" cy="4749951"/>
          </a:xfrm>
          <a:custGeom>
            <a:avLst/>
            <a:gdLst/>
            <a:ahLst/>
            <a:cxnLst/>
            <a:rect l="l" t="t" r="r" b="b"/>
            <a:pathLst>
              <a:path w="11762931" h="4749951">
                <a:moveTo>
                  <a:pt x="0" y="0"/>
                </a:moveTo>
                <a:lnTo>
                  <a:pt x="11762930" y="0"/>
                </a:lnTo>
                <a:lnTo>
                  <a:pt x="11762930" y="4749951"/>
                </a:lnTo>
                <a:lnTo>
                  <a:pt x="0" y="4749951"/>
                </a:lnTo>
                <a:lnTo>
                  <a:pt x="0" y="0"/>
                </a:lnTo>
                <a:close/>
              </a:path>
            </a:pathLst>
          </a:custGeom>
          <a:blipFill>
            <a:blip r:embed="rId4"/>
            <a:stretch>
              <a:fillRect t="-60060" b="-25672"/>
            </a:stretch>
          </a:blipFill>
        </p:spPr>
        <p:txBody>
          <a:bodyPr/>
          <a:lstStyle/>
          <a:p>
            <a:endParaRPr lang="en-GB"/>
          </a:p>
        </p:txBody>
      </p:sp>
      <p:sp>
        <p:nvSpPr>
          <p:cNvPr id="5" name="TextBox 5"/>
          <p:cNvSpPr txBox="1"/>
          <p:nvPr/>
        </p:nvSpPr>
        <p:spPr>
          <a:xfrm>
            <a:off x="0" y="1943108"/>
            <a:ext cx="18288000" cy="1226925"/>
          </a:xfrm>
          <a:prstGeom prst="rect">
            <a:avLst/>
          </a:prstGeom>
        </p:spPr>
        <p:txBody>
          <a:bodyPr lIns="0" tIns="0" rIns="0" bIns="0" rtlCol="0" anchor="t">
            <a:spAutoFit/>
          </a:bodyPr>
          <a:lstStyle/>
          <a:p>
            <a:pPr algn="ctr">
              <a:lnSpc>
                <a:spcPts val="4824"/>
              </a:lnSpc>
            </a:pPr>
            <a:r>
              <a:rPr lang="en-US" sz="3445">
                <a:solidFill>
                  <a:srgbClr val="FFFFFF"/>
                </a:solidFill>
                <a:latin typeface="Poppins"/>
                <a:ea typeface="Poppins"/>
                <a:cs typeface="Poppins"/>
                <a:sym typeface="Poppins"/>
              </a:rPr>
              <a:t>The main aim of the Bristol City Youth Council is to advocate, represent and champion the voices of young people across Bristol.</a:t>
            </a:r>
          </a:p>
        </p:txBody>
      </p:sp>
      <p:sp>
        <p:nvSpPr>
          <p:cNvPr id="6" name="TextBox 6"/>
          <p:cNvSpPr txBox="1"/>
          <p:nvPr/>
        </p:nvSpPr>
        <p:spPr>
          <a:xfrm>
            <a:off x="719217" y="415681"/>
            <a:ext cx="15026538" cy="1095363"/>
          </a:xfrm>
          <a:prstGeom prst="rect">
            <a:avLst/>
          </a:prstGeom>
        </p:spPr>
        <p:txBody>
          <a:bodyPr lIns="0" tIns="0" rIns="0" bIns="0" rtlCol="0" anchor="t">
            <a:spAutoFit/>
          </a:bodyPr>
          <a:lstStyle/>
          <a:p>
            <a:pPr algn="ctr">
              <a:lnSpc>
                <a:spcPts val="8400"/>
              </a:lnSpc>
            </a:pPr>
            <a:r>
              <a:rPr lang="en-US" sz="6000" b="1">
                <a:solidFill>
                  <a:srgbClr val="FFFFFF"/>
                </a:solidFill>
                <a:latin typeface="Poppins Bold"/>
                <a:ea typeface="Poppins Bold"/>
                <a:cs typeface="Poppins Bold"/>
                <a:sym typeface="Poppins Bold"/>
              </a:rPr>
              <a:t>What is Bristol City Youth Council?</a:t>
            </a:r>
          </a:p>
        </p:txBody>
      </p:sp>
      <p:sp>
        <p:nvSpPr>
          <p:cNvPr id="7" name="TextBox 7"/>
          <p:cNvSpPr txBox="1"/>
          <p:nvPr/>
        </p:nvSpPr>
        <p:spPr>
          <a:xfrm>
            <a:off x="0" y="3330516"/>
            <a:ext cx="18288000" cy="1226820"/>
          </a:xfrm>
          <a:prstGeom prst="rect">
            <a:avLst/>
          </a:prstGeom>
        </p:spPr>
        <p:txBody>
          <a:bodyPr lIns="0" tIns="0" rIns="0" bIns="0" rtlCol="0" anchor="t">
            <a:spAutoFit/>
          </a:bodyPr>
          <a:lstStyle/>
          <a:p>
            <a:pPr algn="ctr">
              <a:lnSpc>
                <a:spcPts val="4830"/>
              </a:lnSpc>
              <a:spcBef>
                <a:spcPct val="0"/>
              </a:spcBef>
            </a:pPr>
            <a:r>
              <a:rPr lang="en-US" sz="3450" dirty="0">
                <a:solidFill>
                  <a:srgbClr val="FFFFFF"/>
                </a:solidFill>
                <a:latin typeface="Poppins"/>
                <a:ea typeface="Poppins"/>
                <a:cs typeface="Poppins"/>
                <a:sym typeface="Poppins"/>
              </a:rPr>
              <a:t>We ask that young people commit around 2 - 3 hours a week over the two year term of office but this can vary depending on whether they have a role.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64867"/>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3"/>
            <a:stretch>
              <a:fillRect/>
            </a:stretch>
          </a:blipFill>
        </p:spPr>
        <p:txBody>
          <a:bodyPr/>
          <a:lstStyle/>
          <a:p>
            <a:endParaRPr lang="en-GB"/>
          </a:p>
        </p:txBody>
      </p:sp>
      <p:sp>
        <p:nvSpPr>
          <p:cNvPr id="3" name="Freeform 3"/>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445188" y="1860856"/>
            <a:ext cx="17397624" cy="7307002"/>
          </a:xfrm>
          <a:custGeom>
            <a:avLst/>
            <a:gdLst/>
            <a:ahLst/>
            <a:cxnLst/>
            <a:rect l="l" t="t" r="r" b="b"/>
            <a:pathLst>
              <a:path w="17397624" h="7307002">
                <a:moveTo>
                  <a:pt x="0" y="0"/>
                </a:moveTo>
                <a:lnTo>
                  <a:pt x="17397624" y="0"/>
                </a:lnTo>
                <a:lnTo>
                  <a:pt x="17397624" y="7307001"/>
                </a:lnTo>
                <a:lnTo>
                  <a:pt x="0" y="730700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TextBox 5"/>
          <p:cNvSpPr txBox="1"/>
          <p:nvPr/>
        </p:nvSpPr>
        <p:spPr>
          <a:xfrm>
            <a:off x="6966474" y="3012930"/>
            <a:ext cx="4355052" cy="868667"/>
          </a:xfrm>
          <a:prstGeom prst="rect">
            <a:avLst/>
          </a:prstGeom>
        </p:spPr>
        <p:txBody>
          <a:bodyPr lIns="0" tIns="0" rIns="0" bIns="0" rtlCol="0" anchor="t">
            <a:spAutoFit/>
          </a:bodyPr>
          <a:lstStyle/>
          <a:p>
            <a:pPr algn="ctr">
              <a:lnSpc>
                <a:spcPts val="6720"/>
              </a:lnSpc>
            </a:pPr>
            <a:r>
              <a:rPr lang="en-US" sz="4800" b="1">
                <a:solidFill>
                  <a:srgbClr val="000000"/>
                </a:solidFill>
                <a:latin typeface="Poppins Bold"/>
                <a:ea typeface="Poppins Bold"/>
                <a:cs typeface="Poppins Bold"/>
                <a:sym typeface="Poppins Bold"/>
              </a:rPr>
              <a:t>Area </a:t>
            </a:r>
          </a:p>
        </p:txBody>
      </p:sp>
      <p:sp>
        <p:nvSpPr>
          <p:cNvPr id="6" name="TextBox 6"/>
          <p:cNvSpPr txBox="1"/>
          <p:nvPr/>
        </p:nvSpPr>
        <p:spPr>
          <a:xfrm>
            <a:off x="13269699" y="3012930"/>
            <a:ext cx="4355052" cy="868667"/>
          </a:xfrm>
          <a:prstGeom prst="rect">
            <a:avLst/>
          </a:prstGeom>
        </p:spPr>
        <p:txBody>
          <a:bodyPr lIns="0" tIns="0" rIns="0" bIns="0" rtlCol="0" anchor="t">
            <a:spAutoFit/>
          </a:bodyPr>
          <a:lstStyle/>
          <a:p>
            <a:pPr algn="ctr">
              <a:lnSpc>
                <a:spcPts val="6720"/>
              </a:lnSpc>
            </a:pPr>
            <a:r>
              <a:rPr lang="en-US" sz="4800" b="1">
                <a:solidFill>
                  <a:srgbClr val="000000"/>
                </a:solidFill>
                <a:latin typeface="Poppins Bold"/>
                <a:ea typeface="Poppins Bold"/>
                <a:cs typeface="Poppins Bold"/>
                <a:sym typeface="Poppins Bold"/>
              </a:rPr>
              <a:t>Equality </a:t>
            </a:r>
          </a:p>
        </p:txBody>
      </p:sp>
      <p:sp>
        <p:nvSpPr>
          <p:cNvPr id="7" name="TextBox 7"/>
          <p:cNvSpPr txBox="1"/>
          <p:nvPr/>
        </p:nvSpPr>
        <p:spPr>
          <a:xfrm>
            <a:off x="6966474" y="4206280"/>
            <a:ext cx="4355052" cy="3209911"/>
          </a:xfrm>
          <a:prstGeom prst="rect">
            <a:avLst/>
          </a:prstGeom>
        </p:spPr>
        <p:txBody>
          <a:bodyPr lIns="0" tIns="0" rIns="0" bIns="0" rtlCol="0" anchor="t">
            <a:spAutoFit/>
          </a:bodyPr>
          <a:lstStyle/>
          <a:p>
            <a:pPr algn="ctr">
              <a:lnSpc>
                <a:spcPts val="4200"/>
              </a:lnSpc>
            </a:pPr>
            <a:r>
              <a:rPr lang="en-US" sz="3000">
                <a:solidFill>
                  <a:srgbClr val="000000"/>
                </a:solidFill>
                <a:latin typeface="Poppins"/>
                <a:ea typeface="Poppins"/>
                <a:cs typeface="Poppins"/>
                <a:sym typeface="Poppins"/>
              </a:rPr>
              <a:t>6 x area co-optees identified through Family Help and other services.</a:t>
            </a:r>
          </a:p>
          <a:p>
            <a:pPr algn="ctr">
              <a:lnSpc>
                <a:spcPts val="4200"/>
              </a:lnSpc>
            </a:pPr>
            <a:endParaRPr lang="en-US" sz="3000">
              <a:solidFill>
                <a:srgbClr val="000000"/>
              </a:solidFill>
              <a:latin typeface="Poppins"/>
              <a:ea typeface="Poppins"/>
              <a:cs typeface="Poppins"/>
              <a:sym typeface="Poppins"/>
            </a:endParaRPr>
          </a:p>
          <a:p>
            <a:pPr algn="ctr">
              <a:lnSpc>
                <a:spcPts val="4200"/>
              </a:lnSpc>
            </a:pPr>
            <a:r>
              <a:rPr lang="en-US" sz="3000">
                <a:solidFill>
                  <a:srgbClr val="000000"/>
                </a:solidFill>
                <a:latin typeface="Poppins"/>
                <a:ea typeface="Poppins"/>
                <a:cs typeface="Poppins"/>
                <a:sym typeface="Poppins"/>
              </a:rPr>
              <a:t>2 from each area.</a:t>
            </a:r>
          </a:p>
        </p:txBody>
      </p:sp>
      <p:sp>
        <p:nvSpPr>
          <p:cNvPr id="8" name="TextBox 8"/>
          <p:cNvSpPr txBox="1"/>
          <p:nvPr/>
        </p:nvSpPr>
        <p:spPr>
          <a:xfrm>
            <a:off x="13066151" y="4097243"/>
            <a:ext cx="4355052" cy="3658220"/>
          </a:xfrm>
          <a:prstGeom prst="rect">
            <a:avLst/>
          </a:prstGeom>
        </p:spPr>
        <p:txBody>
          <a:bodyPr lIns="0" tIns="0" rIns="0" bIns="0" rtlCol="0" anchor="t">
            <a:spAutoFit/>
          </a:bodyPr>
          <a:lstStyle/>
          <a:p>
            <a:pPr algn="ctr">
              <a:lnSpc>
                <a:spcPts val="3640"/>
              </a:lnSpc>
            </a:pPr>
            <a:r>
              <a:rPr lang="en-US" sz="2600">
                <a:solidFill>
                  <a:srgbClr val="000000"/>
                </a:solidFill>
                <a:latin typeface="Poppins"/>
                <a:ea typeface="Poppins"/>
                <a:cs typeface="Poppins"/>
                <a:sym typeface="Poppins"/>
              </a:rPr>
              <a:t>5 x equality groups identified:</a:t>
            </a:r>
          </a:p>
          <a:p>
            <a:pPr algn="ctr">
              <a:lnSpc>
                <a:spcPts val="3640"/>
              </a:lnSpc>
            </a:pPr>
            <a:endParaRPr lang="en-US" sz="2600">
              <a:solidFill>
                <a:srgbClr val="000000"/>
              </a:solidFill>
              <a:latin typeface="Poppins"/>
              <a:ea typeface="Poppins"/>
              <a:cs typeface="Poppins"/>
              <a:sym typeface="Poppins"/>
            </a:endParaRPr>
          </a:p>
          <a:p>
            <a:pPr marL="561464" lvl="1" indent="-280732" algn="l">
              <a:lnSpc>
                <a:spcPts val="3640"/>
              </a:lnSpc>
              <a:buAutoNum type="arabicPeriod"/>
            </a:pPr>
            <a:r>
              <a:rPr lang="en-US" sz="2600">
                <a:solidFill>
                  <a:srgbClr val="000000"/>
                </a:solidFill>
                <a:latin typeface="Poppins"/>
                <a:ea typeface="Poppins"/>
                <a:cs typeface="Poppins"/>
                <a:sym typeface="Poppins"/>
              </a:rPr>
              <a:t> Listening Partnership</a:t>
            </a:r>
          </a:p>
          <a:p>
            <a:pPr marL="561464" lvl="1" indent="-280732" algn="l">
              <a:lnSpc>
                <a:spcPts val="3640"/>
              </a:lnSpc>
              <a:buAutoNum type="arabicPeriod"/>
            </a:pPr>
            <a:r>
              <a:rPr lang="en-US" sz="2600">
                <a:solidFill>
                  <a:srgbClr val="000000"/>
                </a:solidFill>
                <a:latin typeface="Poppins"/>
                <a:ea typeface="Poppins"/>
                <a:cs typeface="Poppins"/>
                <a:sym typeface="Poppins"/>
              </a:rPr>
              <a:t> Children in Care</a:t>
            </a:r>
          </a:p>
          <a:p>
            <a:pPr marL="561464" lvl="1" indent="-280732" algn="l">
              <a:lnSpc>
                <a:spcPts val="3640"/>
              </a:lnSpc>
              <a:buAutoNum type="arabicPeriod"/>
            </a:pPr>
            <a:r>
              <a:rPr lang="en-US" sz="2600">
                <a:solidFill>
                  <a:srgbClr val="000000"/>
                </a:solidFill>
                <a:latin typeface="Poppins"/>
                <a:ea typeface="Poppins"/>
                <a:cs typeface="Poppins"/>
                <a:sym typeface="Poppins"/>
              </a:rPr>
              <a:t> Integrate UK</a:t>
            </a:r>
          </a:p>
          <a:p>
            <a:pPr marL="561464" lvl="1" indent="-280732" algn="l">
              <a:lnSpc>
                <a:spcPts val="3640"/>
              </a:lnSpc>
              <a:buAutoNum type="arabicPeriod"/>
            </a:pPr>
            <a:r>
              <a:rPr lang="en-US" sz="2600">
                <a:solidFill>
                  <a:srgbClr val="000000"/>
                </a:solidFill>
                <a:latin typeface="Poppins"/>
                <a:ea typeface="Poppins"/>
                <a:cs typeface="Poppins"/>
                <a:sym typeface="Poppins"/>
              </a:rPr>
              <a:t> Young Carers</a:t>
            </a:r>
          </a:p>
          <a:p>
            <a:pPr marL="561464" lvl="1" indent="-280732" algn="l">
              <a:lnSpc>
                <a:spcPts val="3640"/>
              </a:lnSpc>
              <a:buAutoNum type="arabicPeriod"/>
            </a:pPr>
            <a:r>
              <a:rPr lang="en-US" sz="2600">
                <a:solidFill>
                  <a:srgbClr val="000000"/>
                </a:solidFill>
                <a:latin typeface="Poppins"/>
                <a:ea typeface="Poppins"/>
                <a:cs typeface="Poppins"/>
                <a:sym typeface="Poppins"/>
              </a:rPr>
              <a:t> Freedom (OTR)</a:t>
            </a:r>
          </a:p>
        </p:txBody>
      </p:sp>
      <p:sp>
        <p:nvSpPr>
          <p:cNvPr id="9" name="TextBox 9"/>
          <p:cNvSpPr txBox="1"/>
          <p:nvPr/>
        </p:nvSpPr>
        <p:spPr>
          <a:xfrm>
            <a:off x="445188" y="512816"/>
            <a:ext cx="16016250" cy="1023357"/>
          </a:xfrm>
          <a:prstGeom prst="rect">
            <a:avLst/>
          </a:prstGeom>
        </p:spPr>
        <p:txBody>
          <a:bodyPr wrap="square" lIns="0" tIns="0" rIns="0" bIns="0" rtlCol="0" anchor="t">
            <a:spAutoFit/>
          </a:bodyPr>
          <a:lstStyle/>
          <a:p>
            <a:pPr algn="ctr">
              <a:lnSpc>
                <a:spcPts val="8400"/>
              </a:lnSpc>
            </a:pPr>
            <a:r>
              <a:rPr lang="en-US" sz="6000" b="1" dirty="0">
                <a:solidFill>
                  <a:srgbClr val="FFFFFF"/>
                </a:solidFill>
                <a:latin typeface="Poppins Bold"/>
                <a:ea typeface="Poppins Bold"/>
                <a:cs typeface="Poppins Bold"/>
                <a:sym typeface="Poppins Bold"/>
              </a:rPr>
              <a:t>Who are the Bristol City Youth Council?</a:t>
            </a:r>
          </a:p>
        </p:txBody>
      </p:sp>
      <p:sp>
        <p:nvSpPr>
          <p:cNvPr id="10" name="TextBox 10"/>
          <p:cNvSpPr txBox="1"/>
          <p:nvPr/>
        </p:nvSpPr>
        <p:spPr>
          <a:xfrm>
            <a:off x="1028700" y="3012930"/>
            <a:ext cx="4355052" cy="868667"/>
          </a:xfrm>
          <a:prstGeom prst="rect">
            <a:avLst/>
          </a:prstGeom>
        </p:spPr>
        <p:txBody>
          <a:bodyPr lIns="0" tIns="0" rIns="0" bIns="0" rtlCol="0" anchor="t">
            <a:spAutoFit/>
          </a:bodyPr>
          <a:lstStyle/>
          <a:p>
            <a:pPr algn="ctr">
              <a:lnSpc>
                <a:spcPts val="6720"/>
              </a:lnSpc>
            </a:pPr>
            <a:r>
              <a:rPr lang="en-US" sz="4800" b="1">
                <a:solidFill>
                  <a:srgbClr val="000000"/>
                </a:solidFill>
                <a:latin typeface="Poppins Bold"/>
                <a:ea typeface="Poppins Bold"/>
                <a:cs typeface="Poppins Bold"/>
                <a:sym typeface="Poppins Bold"/>
              </a:rPr>
              <a:t>Elected</a:t>
            </a:r>
          </a:p>
        </p:txBody>
      </p:sp>
      <p:sp>
        <p:nvSpPr>
          <p:cNvPr id="11" name="TextBox 11"/>
          <p:cNvSpPr txBox="1"/>
          <p:nvPr/>
        </p:nvSpPr>
        <p:spPr>
          <a:xfrm>
            <a:off x="1028700" y="4472980"/>
            <a:ext cx="4355052" cy="2676511"/>
          </a:xfrm>
          <a:prstGeom prst="rect">
            <a:avLst/>
          </a:prstGeom>
        </p:spPr>
        <p:txBody>
          <a:bodyPr lIns="0" tIns="0" rIns="0" bIns="0" rtlCol="0" anchor="t">
            <a:spAutoFit/>
          </a:bodyPr>
          <a:lstStyle/>
          <a:p>
            <a:pPr algn="ctr">
              <a:lnSpc>
                <a:spcPts val="4200"/>
              </a:lnSpc>
            </a:pPr>
            <a:r>
              <a:rPr lang="en-US" sz="3000">
                <a:solidFill>
                  <a:srgbClr val="000000"/>
                </a:solidFill>
                <a:latin typeface="Poppins"/>
                <a:ea typeface="Poppins"/>
                <a:cs typeface="Poppins"/>
                <a:sym typeface="Poppins"/>
              </a:rPr>
              <a:t>6 x </a:t>
            </a:r>
            <a:r>
              <a:rPr lang="en-US" sz="3000" b="1">
                <a:solidFill>
                  <a:srgbClr val="004AAD"/>
                </a:solidFill>
                <a:latin typeface="Poppins Bold"/>
                <a:ea typeface="Poppins Bold"/>
                <a:cs typeface="Poppins Bold"/>
                <a:sym typeface="Poppins Bold"/>
              </a:rPr>
              <a:t>North</a:t>
            </a:r>
          </a:p>
          <a:p>
            <a:pPr algn="ctr">
              <a:lnSpc>
                <a:spcPts val="4200"/>
              </a:lnSpc>
            </a:pPr>
            <a:endParaRPr lang="en-US" sz="3000" b="1">
              <a:solidFill>
                <a:srgbClr val="004AAD"/>
              </a:solidFill>
              <a:latin typeface="Poppins Bold"/>
              <a:ea typeface="Poppins Bold"/>
              <a:cs typeface="Poppins Bold"/>
              <a:sym typeface="Poppins Bold"/>
            </a:endParaRPr>
          </a:p>
          <a:p>
            <a:pPr algn="ctr">
              <a:lnSpc>
                <a:spcPts val="4200"/>
              </a:lnSpc>
            </a:pPr>
            <a:r>
              <a:rPr lang="en-US" sz="3000">
                <a:solidFill>
                  <a:srgbClr val="000000"/>
                </a:solidFill>
                <a:latin typeface="Poppins"/>
                <a:ea typeface="Poppins"/>
                <a:cs typeface="Poppins"/>
                <a:sym typeface="Poppins"/>
              </a:rPr>
              <a:t>6 x </a:t>
            </a:r>
            <a:r>
              <a:rPr lang="en-US" sz="3000" b="1">
                <a:solidFill>
                  <a:srgbClr val="FF66C4"/>
                </a:solidFill>
                <a:latin typeface="Poppins Bold"/>
                <a:ea typeface="Poppins Bold"/>
                <a:cs typeface="Poppins Bold"/>
                <a:sym typeface="Poppins Bold"/>
              </a:rPr>
              <a:t>South</a:t>
            </a:r>
          </a:p>
          <a:p>
            <a:pPr algn="ctr">
              <a:lnSpc>
                <a:spcPts val="4200"/>
              </a:lnSpc>
            </a:pPr>
            <a:endParaRPr lang="en-US" sz="3000" b="1">
              <a:solidFill>
                <a:srgbClr val="FF66C4"/>
              </a:solidFill>
              <a:latin typeface="Poppins Bold"/>
              <a:ea typeface="Poppins Bold"/>
              <a:cs typeface="Poppins Bold"/>
              <a:sym typeface="Poppins Bold"/>
            </a:endParaRPr>
          </a:p>
          <a:p>
            <a:pPr algn="ctr">
              <a:lnSpc>
                <a:spcPts val="4200"/>
              </a:lnSpc>
            </a:pPr>
            <a:r>
              <a:rPr lang="en-US" sz="3000">
                <a:solidFill>
                  <a:srgbClr val="000000"/>
                </a:solidFill>
                <a:latin typeface="Poppins"/>
                <a:ea typeface="Poppins"/>
                <a:cs typeface="Poppins"/>
                <a:sym typeface="Poppins"/>
              </a:rPr>
              <a:t>6 x </a:t>
            </a:r>
            <a:r>
              <a:rPr lang="en-US" sz="3000" b="1">
                <a:solidFill>
                  <a:srgbClr val="FFBD59"/>
                </a:solidFill>
                <a:latin typeface="Poppins Bold"/>
                <a:ea typeface="Poppins Bold"/>
                <a:cs typeface="Poppins Bold"/>
                <a:sym typeface="Poppins Bold"/>
              </a:rPr>
              <a:t>East Central</a:t>
            </a:r>
          </a:p>
        </p:txBody>
      </p:sp>
      <p:sp>
        <p:nvSpPr>
          <p:cNvPr id="12" name="Freeform 12"/>
          <p:cNvSpPr/>
          <p:nvPr/>
        </p:nvSpPr>
        <p:spPr>
          <a:xfrm>
            <a:off x="1028700" y="8965262"/>
            <a:ext cx="16230600" cy="1062327"/>
          </a:xfrm>
          <a:custGeom>
            <a:avLst/>
            <a:gdLst/>
            <a:ahLst/>
            <a:cxnLst/>
            <a:rect l="l" t="t" r="r" b="b"/>
            <a:pathLst>
              <a:path w="16230600" h="1062327">
                <a:moveTo>
                  <a:pt x="0" y="0"/>
                </a:moveTo>
                <a:lnTo>
                  <a:pt x="16230600" y="0"/>
                </a:lnTo>
                <a:lnTo>
                  <a:pt x="16230600" y="1062326"/>
                </a:lnTo>
                <a:lnTo>
                  <a:pt x="0" y="1062326"/>
                </a:lnTo>
                <a:lnTo>
                  <a:pt x="0" y="0"/>
                </a:lnTo>
                <a:close/>
              </a:path>
            </a:pathLst>
          </a:custGeom>
          <a:blipFill>
            <a:blip r:embed="rId6"/>
            <a:stretch>
              <a:fillRect t="-428888" b="-143358"/>
            </a:stretch>
          </a:blipFill>
        </p:spPr>
        <p:txBody>
          <a:bodyPr/>
          <a:lstStyle/>
          <a:p>
            <a:endParaRPr lang="en-GB"/>
          </a:p>
        </p:txBody>
      </p:sp>
      <p:sp>
        <p:nvSpPr>
          <p:cNvPr id="13" name="TextBox 13"/>
          <p:cNvSpPr txBox="1"/>
          <p:nvPr/>
        </p:nvSpPr>
        <p:spPr>
          <a:xfrm>
            <a:off x="1028700" y="9024982"/>
            <a:ext cx="16213781" cy="868667"/>
          </a:xfrm>
          <a:prstGeom prst="rect">
            <a:avLst/>
          </a:prstGeom>
        </p:spPr>
        <p:txBody>
          <a:bodyPr lIns="0" tIns="0" rIns="0" bIns="0" rtlCol="0" anchor="t">
            <a:spAutoFit/>
          </a:bodyPr>
          <a:lstStyle/>
          <a:p>
            <a:pPr algn="ctr">
              <a:lnSpc>
                <a:spcPts val="6720"/>
              </a:lnSpc>
            </a:pPr>
            <a:r>
              <a:rPr lang="en-US" sz="4800" b="1">
                <a:solidFill>
                  <a:srgbClr val="000000"/>
                </a:solidFill>
                <a:latin typeface="Poppins Bold"/>
                <a:ea typeface="Poppins Bold"/>
                <a:cs typeface="Poppins Bold"/>
                <a:sym typeface="Poppins Bold"/>
              </a:rPr>
              <a:t>29 Youth Councillors in total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1028700" y="3473151"/>
            <a:ext cx="4410383" cy="5539872"/>
          </a:xfrm>
          <a:custGeom>
            <a:avLst/>
            <a:gdLst/>
            <a:ahLst/>
            <a:cxnLst/>
            <a:rect l="l" t="t" r="r" b="b"/>
            <a:pathLst>
              <a:path w="4410383" h="5539872">
                <a:moveTo>
                  <a:pt x="0" y="0"/>
                </a:moveTo>
                <a:lnTo>
                  <a:pt x="4410383" y="0"/>
                </a:lnTo>
                <a:lnTo>
                  <a:pt x="4410383" y="5539872"/>
                </a:lnTo>
                <a:lnTo>
                  <a:pt x="0" y="5539872"/>
                </a:lnTo>
                <a:lnTo>
                  <a:pt x="0" y="0"/>
                </a:lnTo>
                <a:close/>
              </a:path>
            </a:pathLst>
          </a:custGeom>
          <a:blipFill>
            <a:blip r:embed="rId3"/>
            <a:stretch>
              <a:fillRect/>
            </a:stretch>
          </a:blipFill>
        </p:spPr>
        <p:txBody>
          <a:bodyPr/>
          <a:lstStyle/>
          <a:p>
            <a:endParaRPr lang="en-GB"/>
          </a:p>
        </p:txBody>
      </p:sp>
      <p:sp>
        <p:nvSpPr>
          <p:cNvPr id="4" name="Freeform 4"/>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p:cNvSpPr/>
          <p:nvPr/>
        </p:nvSpPr>
        <p:spPr>
          <a:xfrm>
            <a:off x="13089197" y="3473151"/>
            <a:ext cx="3948208" cy="5585440"/>
          </a:xfrm>
          <a:custGeom>
            <a:avLst/>
            <a:gdLst/>
            <a:ahLst/>
            <a:cxnLst/>
            <a:rect l="l" t="t" r="r" b="b"/>
            <a:pathLst>
              <a:path w="3948208" h="5585440">
                <a:moveTo>
                  <a:pt x="0" y="0"/>
                </a:moveTo>
                <a:lnTo>
                  <a:pt x="3948208" y="0"/>
                </a:lnTo>
                <a:lnTo>
                  <a:pt x="3948208" y="5585440"/>
                </a:lnTo>
                <a:lnTo>
                  <a:pt x="0" y="5585440"/>
                </a:lnTo>
                <a:lnTo>
                  <a:pt x="0" y="0"/>
                </a:lnTo>
                <a:close/>
              </a:path>
            </a:pathLst>
          </a:custGeom>
          <a:blipFill>
            <a:blip r:embed="rId5"/>
            <a:stretch>
              <a:fillRect/>
            </a:stretch>
          </a:blipFill>
          <a:ln w="38100" cap="sq">
            <a:solidFill>
              <a:srgbClr val="000000"/>
            </a:solidFill>
            <a:prstDash val="solid"/>
            <a:miter/>
          </a:ln>
        </p:spPr>
        <p:txBody>
          <a:bodyPr/>
          <a:lstStyle/>
          <a:p>
            <a:endParaRPr lang="en-GB"/>
          </a:p>
        </p:txBody>
      </p:sp>
      <p:sp>
        <p:nvSpPr>
          <p:cNvPr id="6" name="Freeform 6"/>
          <p:cNvSpPr/>
          <p:nvPr/>
        </p:nvSpPr>
        <p:spPr>
          <a:xfrm>
            <a:off x="6772478" y="3473151"/>
            <a:ext cx="4983325" cy="5539872"/>
          </a:xfrm>
          <a:custGeom>
            <a:avLst/>
            <a:gdLst/>
            <a:ahLst/>
            <a:cxnLst/>
            <a:rect l="l" t="t" r="r" b="b"/>
            <a:pathLst>
              <a:path w="4983325" h="5539872">
                <a:moveTo>
                  <a:pt x="0" y="0"/>
                </a:moveTo>
                <a:lnTo>
                  <a:pt x="4983325" y="0"/>
                </a:lnTo>
                <a:lnTo>
                  <a:pt x="4983325" y="5539872"/>
                </a:lnTo>
                <a:lnTo>
                  <a:pt x="0" y="5539872"/>
                </a:lnTo>
                <a:lnTo>
                  <a:pt x="0" y="0"/>
                </a:lnTo>
                <a:close/>
              </a:path>
            </a:pathLst>
          </a:custGeom>
          <a:blipFill>
            <a:blip r:embed="rId6"/>
            <a:stretch>
              <a:fillRect l="-7627" r="-3540"/>
            </a:stretch>
          </a:blipFill>
          <a:ln w="38100" cap="sq">
            <a:solidFill>
              <a:srgbClr val="000000"/>
            </a:solidFill>
            <a:prstDash val="solid"/>
            <a:miter/>
          </a:ln>
        </p:spPr>
        <p:txBody>
          <a:bodyPr/>
          <a:lstStyle/>
          <a:p>
            <a:endParaRPr lang="en-GB"/>
          </a:p>
        </p:txBody>
      </p:sp>
      <p:sp>
        <p:nvSpPr>
          <p:cNvPr id="7" name="Freeform 7"/>
          <p:cNvSpPr/>
          <p:nvPr/>
        </p:nvSpPr>
        <p:spPr>
          <a:xfrm>
            <a:off x="1028700" y="3473151"/>
            <a:ext cx="4410278" cy="5512847"/>
          </a:xfrm>
          <a:custGeom>
            <a:avLst/>
            <a:gdLst/>
            <a:ahLst/>
            <a:cxnLst/>
            <a:rect l="l" t="t" r="r" b="b"/>
            <a:pathLst>
              <a:path w="4410278" h="5512847">
                <a:moveTo>
                  <a:pt x="0" y="0"/>
                </a:moveTo>
                <a:lnTo>
                  <a:pt x="4410278" y="0"/>
                </a:lnTo>
                <a:lnTo>
                  <a:pt x="4410278" y="5512848"/>
                </a:lnTo>
                <a:lnTo>
                  <a:pt x="0" y="5512848"/>
                </a:lnTo>
                <a:lnTo>
                  <a:pt x="0" y="0"/>
                </a:lnTo>
                <a:close/>
              </a:path>
            </a:pathLst>
          </a:custGeom>
          <a:blipFill>
            <a:blip r:embed="rId7"/>
            <a:stretch>
              <a:fillRect/>
            </a:stretch>
          </a:blipFill>
          <a:ln w="38100" cap="sq">
            <a:solidFill>
              <a:srgbClr val="000000"/>
            </a:solidFill>
            <a:prstDash val="solid"/>
            <a:miter/>
          </a:ln>
        </p:spPr>
        <p:txBody>
          <a:bodyPr/>
          <a:lstStyle/>
          <a:p>
            <a:endParaRPr lang="en-GB"/>
          </a:p>
        </p:txBody>
      </p:sp>
      <p:sp>
        <p:nvSpPr>
          <p:cNvPr id="8" name="TextBox 8"/>
          <p:cNvSpPr txBox="1"/>
          <p:nvPr/>
        </p:nvSpPr>
        <p:spPr>
          <a:xfrm>
            <a:off x="1170423" y="344082"/>
            <a:ext cx="15026538" cy="2162163"/>
          </a:xfrm>
          <a:prstGeom prst="rect">
            <a:avLst/>
          </a:prstGeom>
        </p:spPr>
        <p:txBody>
          <a:bodyPr wrap="square" lIns="0" tIns="0" rIns="0" bIns="0" rtlCol="0" anchor="t">
            <a:spAutoFit/>
          </a:bodyPr>
          <a:lstStyle/>
          <a:p>
            <a:pPr algn="ctr">
              <a:lnSpc>
                <a:spcPts val="8400"/>
              </a:lnSpc>
            </a:pPr>
            <a:r>
              <a:rPr lang="en-US" sz="6000" b="1" dirty="0">
                <a:solidFill>
                  <a:srgbClr val="FFFFFF"/>
                </a:solidFill>
                <a:latin typeface="Poppins Bold"/>
                <a:ea typeface="Poppins Bold"/>
                <a:cs typeface="Poppins Bold"/>
                <a:sym typeface="Poppins Bold"/>
              </a:rPr>
              <a:t>The Ways BCYC gather the voice of Young People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TextBox 4"/>
          <p:cNvSpPr txBox="1"/>
          <p:nvPr/>
        </p:nvSpPr>
        <p:spPr>
          <a:xfrm>
            <a:off x="1170423" y="344082"/>
            <a:ext cx="15026538" cy="1095363"/>
          </a:xfrm>
          <a:prstGeom prst="rect">
            <a:avLst/>
          </a:prstGeom>
        </p:spPr>
        <p:txBody>
          <a:bodyPr lIns="0" tIns="0" rIns="0" bIns="0" rtlCol="0" anchor="t">
            <a:spAutoFit/>
          </a:bodyPr>
          <a:lstStyle/>
          <a:p>
            <a:pPr algn="ctr">
              <a:lnSpc>
                <a:spcPts val="8400"/>
              </a:lnSpc>
            </a:pPr>
            <a:r>
              <a:rPr lang="en-US" sz="6000" b="1">
                <a:solidFill>
                  <a:srgbClr val="FFFFFF"/>
                </a:solidFill>
                <a:latin typeface="Poppins Bold"/>
                <a:ea typeface="Poppins Bold"/>
                <a:cs typeface="Poppins Bold"/>
                <a:sym typeface="Poppins Bold"/>
              </a:rPr>
              <a:t>Area Youth Forums</a:t>
            </a:r>
          </a:p>
        </p:txBody>
      </p:sp>
      <p:sp>
        <p:nvSpPr>
          <p:cNvPr id="5" name="Freeform 5"/>
          <p:cNvSpPr/>
          <p:nvPr/>
        </p:nvSpPr>
        <p:spPr>
          <a:xfrm>
            <a:off x="-2102614" y="155583"/>
            <a:ext cx="14551165" cy="10052034"/>
          </a:xfrm>
          <a:custGeom>
            <a:avLst/>
            <a:gdLst/>
            <a:ahLst/>
            <a:cxnLst/>
            <a:rect l="l" t="t" r="r" b="b"/>
            <a:pathLst>
              <a:path w="14551165" h="10052034">
                <a:moveTo>
                  <a:pt x="0" y="0"/>
                </a:moveTo>
                <a:lnTo>
                  <a:pt x="14551165" y="0"/>
                </a:lnTo>
                <a:lnTo>
                  <a:pt x="14551165" y="10052034"/>
                </a:lnTo>
                <a:lnTo>
                  <a:pt x="0" y="10052034"/>
                </a:lnTo>
                <a:lnTo>
                  <a:pt x="0" y="0"/>
                </a:lnTo>
                <a:close/>
              </a:path>
            </a:pathLst>
          </a:custGeom>
          <a:blipFill>
            <a:blip r:embed="rId4"/>
            <a:stretch>
              <a:fillRect t="-2326"/>
            </a:stretch>
          </a:blipFill>
        </p:spPr>
        <p:txBody>
          <a:bodyPr/>
          <a:lstStyle/>
          <a:p>
            <a:endParaRPr lang="en-GB"/>
          </a:p>
        </p:txBody>
      </p:sp>
      <p:sp>
        <p:nvSpPr>
          <p:cNvPr id="6" name="Freeform 6"/>
          <p:cNvSpPr/>
          <p:nvPr/>
        </p:nvSpPr>
        <p:spPr>
          <a:xfrm>
            <a:off x="8286743" y="4245576"/>
            <a:ext cx="396949" cy="645446"/>
          </a:xfrm>
          <a:custGeom>
            <a:avLst/>
            <a:gdLst/>
            <a:ahLst/>
            <a:cxnLst/>
            <a:rect l="l" t="t" r="r" b="b"/>
            <a:pathLst>
              <a:path w="396949" h="645446">
                <a:moveTo>
                  <a:pt x="0" y="0"/>
                </a:moveTo>
                <a:lnTo>
                  <a:pt x="396949" y="0"/>
                </a:lnTo>
                <a:lnTo>
                  <a:pt x="396949" y="645446"/>
                </a:lnTo>
                <a:lnTo>
                  <a:pt x="0" y="6454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7" name="Freeform 7"/>
          <p:cNvSpPr/>
          <p:nvPr/>
        </p:nvSpPr>
        <p:spPr>
          <a:xfrm>
            <a:off x="6480797" y="3158489"/>
            <a:ext cx="396949" cy="645446"/>
          </a:xfrm>
          <a:custGeom>
            <a:avLst/>
            <a:gdLst/>
            <a:ahLst/>
            <a:cxnLst/>
            <a:rect l="l" t="t" r="r" b="b"/>
            <a:pathLst>
              <a:path w="396949" h="645446">
                <a:moveTo>
                  <a:pt x="0" y="0"/>
                </a:moveTo>
                <a:lnTo>
                  <a:pt x="396950" y="0"/>
                </a:lnTo>
                <a:lnTo>
                  <a:pt x="396950" y="645446"/>
                </a:lnTo>
                <a:lnTo>
                  <a:pt x="0" y="6454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 name="Freeform 8"/>
          <p:cNvSpPr/>
          <p:nvPr/>
        </p:nvSpPr>
        <p:spPr>
          <a:xfrm>
            <a:off x="6282323" y="5522979"/>
            <a:ext cx="396949" cy="645446"/>
          </a:xfrm>
          <a:custGeom>
            <a:avLst/>
            <a:gdLst/>
            <a:ahLst/>
            <a:cxnLst/>
            <a:rect l="l" t="t" r="r" b="b"/>
            <a:pathLst>
              <a:path w="396949" h="645446">
                <a:moveTo>
                  <a:pt x="0" y="0"/>
                </a:moveTo>
                <a:lnTo>
                  <a:pt x="396949" y="0"/>
                </a:lnTo>
                <a:lnTo>
                  <a:pt x="396949" y="645446"/>
                </a:lnTo>
                <a:lnTo>
                  <a:pt x="0" y="6454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9" name="Freeform 9"/>
          <p:cNvSpPr/>
          <p:nvPr/>
        </p:nvSpPr>
        <p:spPr>
          <a:xfrm>
            <a:off x="7515309" y="6587285"/>
            <a:ext cx="396949" cy="645446"/>
          </a:xfrm>
          <a:custGeom>
            <a:avLst/>
            <a:gdLst/>
            <a:ahLst/>
            <a:cxnLst/>
            <a:rect l="l" t="t" r="r" b="b"/>
            <a:pathLst>
              <a:path w="396949" h="645446">
                <a:moveTo>
                  <a:pt x="0" y="0"/>
                </a:moveTo>
                <a:lnTo>
                  <a:pt x="396949" y="0"/>
                </a:lnTo>
                <a:lnTo>
                  <a:pt x="396949" y="645447"/>
                </a:lnTo>
                <a:lnTo>
                  <a:pt x="0" y="64544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a:off x="5172968" y="2389587"/>
            <a:ext cx="396949" cy="645446"/>
          </a:xfrm>
          <a:custGeom>
            <a:avLst/>
            <a:gdLst/>
            <a:ahLst/>
            <a:cxnLst/>
            <a:rect l="l" t="t" r="r" b="b"/>
            <a:pathLst>
              <a:path w="396949" h="645446">
                <a:moveTo>
                  <a:pt x="0" y="0"/>
                </a:moveTo>
                <a:lnTo>
                  <a:pt x="396950" y="0"/>
                </a:lnTo>
                <a:lnTo>
                  <a:pt x="396950" y="645446"/>
                </a:lnTo>
                <a:lnTo>
                  <a:pt x="0" y="6454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1" name="Freeform 11"/>
          <p:cNvSpPr/>
          <p:nvPr/>
        </p:nvSpPr>
        <p:spPr>
          <a:xfrm>
            <a:off x="6282323" y="6881434"/>
            <a:ext cx="396949" cy="645446"/>
          </a:xfrm>
          <a:custGeom>
            <a:avLst/>
            <a:gdLst/>
            <a:ahLst/>
            <a:cxnLst/>
            <a:rect l="l" t="t" r="r" b="b"/>
            <a:pathLst>
              <a:path w="396949" h="645446">
                <a:moveTo>
                  <a:pt x="0" y="0"/>
                </a:moveTo>
                <a:lnTo>
                  <a:pt x="396949" y="0"/>
                </a:lnTo>
                <a:lnTo>
                  <a:pt x="396949" y="645446"/>
                </a:lnTo>
                <a:lnTo>
                  <a:pt x="0" y="6454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2" name="Freeform 12"/>
          <p:cNvSpPr/>
          <p:nvPr/>
        </p:nvSpPr>
        <p:spPr>
          <a:xfrm>
            <a:off x="4182715" y="6587285"/>
            <a:ext cx="396949" cy="645446"/>
          </a:xfrm>
          <a:custGeom>
            <a:avLst/>
            <a:gdLst/>
            <a:ahLst/>
            <a:cxnLst/>
            <a:rect l="l" t="t" r="r" b="b"/>
            <a:pathLst>
              <a:path w="396949" h="645446">
                <a:moveTo>
                  <a:pt x="0" y="0"/>
                </a:moveTo>
                <a:lnTo>
                  <a:pt x="396950" y="0"/>
                </a:lnTo>
                <a:lnTo>
                  <a:pt x="396950" y="645447"/>
                </a:lnTo>
                <a:lnTo>
                  <a:pt x="0" y="64544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3" name="Freeform 13"/>
          <p:cNvSpPr/>
          <p:nvPr/>
        </p:nvSpPr>
        <p:spPr>
          <a:xfrm>
            <a:off x="2866634" y="2513042"/>
            <a:ext cx="396949" cy="645446"/>
          </a:xfrm>
          <a:custGeom>
            <a:avLst/>
            <a:gdLst/>
            <a:ahLst/>
            <a:cxnLst/>
            <a:rect l="l" t="t" r="r" b="b"/>
            <a:pathLst>
              <a:path w="396949" h="645446">
                <a:moveTo>
                  <a:pt x="0" y="0"/>
                </a:moveTo>
                <a:lnTo>
                  <a:pt x="396950" y="0"/>
                </a:lnTo>
                <a:lnTo>
                  <a:pt x="396950" y="645447"/>
                </a:lnTo>
                <a:lnTo>
                  <a:pt x="0" y="64544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4" name="Freeform 14"/>
          <p:cNvSpPr/>
          <p:nvPr/>
        </p:nvSpPr>
        <p:spPr>
          <a:xfrm>
            <a:off x="4974494" y="8508395"/>
            <a:ext cx="396949" cy="645446"/>
          </a:xfrm>
          <a:custGeom>
            <a:avLst/>
            <a:gdLst/>
            <a:ahLst/>
            <a:cxnLst/>
            <a:rect l="l" t="t" r="r" b="b"/>
            <a:pathLst>
              <a:path w="396949" h="645446">
                <a:moveTo>
                  <a:pt x="0" y="0"/>
                </a:moveTo>
                <a:lnTo>
                  <a:pt x="396949" y="0"/>
                </a:lnTo>
                <a:lnTo>
                  <a:pt x="396949" y="645446"/>
                </a:lnTo>
                <a:lnTo>
                  <a:pt x="0" y="6454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5" name="Freeform 15"/>
          <p:cNvSpPr/>
          <p:nvPr/>
        </p:nvSpPr>
        <p:spPr>
          <a:xfrm>
            <a:off x="10388390" y="1465698"/>
            <a:ext cx="5519910" cy="2620568"/>
          </a:xfrm>
          <a:custGeom>
            <a:avLst/>
            <a:gdLst/>
            <a:ahLst/>
            <a:cxnLst/>
            <a:rect l="l" t="t" r="r" b="b"/>
            <a:pathLst>
              <a:path w="5519910" h="2620568">
                <a:moveTo>
                  <a:pt x="0" y="0"/>
                </a:moveTo>
                <a:lnTo>
                  <a:pt x="5519909" y="0"/>
                </a:lnTo>
                <a:lnTo>
                  <a:pt x="5519909" y="2620568"/>
                </a:lnTo>
                <a:lnTo>
                  <a:pt x="0" y="2620568"/>
                </a:lnTo>
                <a:lnTo>
                  <a:pt x="0" y="0"/>
                </a:lnTo>
                <a:close/>
              </a:path>
            </a:pathLst>
          </a:custGeom>
          <a:blipFill>
            <a:blip r:embed="rId6"/>
            <a:stretch>
              <a:fillRect t="-100664" b="-80185"/>
            </a:stretch>
          </a:blipFill>
        </p:spPr>
        <p:txBody>
          <a:bodyPr/>
          <a:lstStyle/>
          <a:p>
            <a:endParaRPr lang="en-GB"/>
          </a:p>
        </p:txBody>
      </p:sp>
      <p:sp>
        <p:nvSpPr>
          <p:cNvPr id="16" name="Freeform 16"/>
          <p:cNvSpPr/>
          <p:nvPr/>
        </p:nvSpPr>
        <p:spPr>
          <a:xfrm>
            <a:off x="10388667" y="4086266"/>
            <a:ext cx="5519632" cy="2783350"/>
          </a:xfrm>
          <a:custGeom>
            <a:avLst/>
            <a:gdLst/>
            <a:ahLst/>
            <a:cxnLst/>
            <a:rect l="l" t="t" r="r" b="b"/>
            <a:pathLst>
              <a:path w="5519632" h="2783350">
                <a:moveTo>
                  <a:pt x="0" y="0"/>
                </a:moveTo>
                <a:lnTo>
                  <a:pt x="5519632" y="0"/>
                </a:lnTo>
                <a:lnTo>
                  <a:pt x="5519632" y="2783350"/>
                </a:lnTo>
                <a:lnTo>
                  <a:pt x="0" y="2783350"/>
                </a:lnTo>
                <a:lnTo>
                  <a:pt x="0" y="0"/>
                </a:lnTo>
                <a:close/>
              </a:path>
            </a:pathLst>
          </a:custGeom>
          <a:blipFill>
            <a:blip r:embed="rId7"/>
            <a:stretch>
              <a:fillRect t="-60943" r="-5" b="-103481"/>
            </a:stretch>
          </a:blipFill>
        </p:spPr>
        <p:txBody>
          <a:bodyPr/>
          <a:lstStyle/>
          <a:p>
            <a:endParaRPr lang="en-GB"/>
          </a:p>
        </p:txBody>
      </p:sp>
      <p:sp>
        <p:nvSpPr>
          <p:cNvPr id="17" name="Freeform 17"/>
          <p:cNvSpPr/>
          <p:nvPr/>
        </p:nvSpPr>
        <p:spPr>
          <a:xfrm>
            <a:off x="10388667" y="6860091"/>
            <a:ext cx="5519910" cy="2940201"/>
          </a:xfrm>
          <a:custGeom>
            <a:avLst/>
            <a:gdLst/>
            <a:ahLst/>
            <a:cxnLst/>
            <a:rect l="l" t="t" r="r" b="b"/>
            <a:pathLst>
              <a:path w="5519910" h="2940201">
                <a:moveTo>
                  <a:pt x="0" y="0"/>
                </a:moveTo>
                <a:lnTo>
                  <a:pt x="5519910" y="0"/>
                </a:lnTo>
                <a:lnTo>
                  <a:pt x="5519910" y="2940201"/>
                </a:lnTo>
                <a:lnTo>
                  <a:pt x="0" y="2940201"/>
                </a:lnTo>
                <a:lnTo>
                  <a:pt x="0" y="0"/>
                </a:lnTo>
                <a:close/>
              </a:path>
            </a:pathLst>
          </a:custGeom>
          <a:blipFill>
            <a:blip r:embed="rId8"/>
            <a:stretch>
              <a:fillRect l="-18261" t="-56931" b="-9585"/>
            </a:stretch>
          </a:blipFill>
        </p:spPr>
        <p:txBody>
          <a:bodyPr/>
          <a:lstStyle/>
          <a:p>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552639" y="1853438"/>
            <a:ext cx="9121072" cy="7942933"/>
          </a:xfrm>
          <a:custGeom>
            <a:avLst/>
            <a:gdLst/>
            <a:ahLst/>
            <a:cxnLst/>
            <a:rect l="l" t="t" r="r" b="b"/>
            <a:pathLst>
              <a:path w="9121072" h="7942933">
                <a:moveTo>
                  <a:pt x="0" y="0"/>
                </a:moveTo>
                <a:lnTo>
                  <a:pt x="9121072" y="0"/>
                </a:lnTo>
                <a:lnTo>
                  <a:pt x="9121072" y="7942934"/>
                </a:lnTo>
                <a:lnTo>
                  <a:pt x="0" y="7942934"/>
                </a:lnTo>
                <a:lnTo>
                  <a:pt x="0" y="0"/>
                </a:lnTo>
                <a:close/>
              </a:path>
            </a:pathLst>
          </a:custGeom>
          <a:blipFill>
            <a:blip r:embed="rId3"/>
            <a:stretch>
              <a:fillRect/>
            </a:stretch>
          </a:blipFill>
        </p:spPr>
        <p:txBody>
          <a:bodyPr/>
          <a:lstStyle/>
          <a:p>
            <a:endParaRPr lang="en-GB"/>
          </a:p>
        </p:txBody>
      </p:sp>
      <p:sp>
        <p:nvSpPr>
          <p:cNvPr id="4" name="Freeform 4"/>
          <p:cNvSpPr/>
          <p:nvPr/>
        </p:nvSpPr>
        <p:spPr>
          <a:xfrm>
            <a:off x="8711390" y="2945620"/>
            <a:ext cx="686472" cy="658155"/>
          </a:xfrm>
          <a:custGeom>
            <a:avLst/>
            <a:gdLst/>
            <a:ahLst/>
            <a:cxnLst/>
            <a:rect l="l" t="t" r="r" b="b"/>
            <a:pathLst>
              <a:path w="686472" h="658155">
                <a:moveTo>
                  <a:pt x="0" y="0"/>
                </a:moveTo>
                <a:lnTo>
                  <a:pt x="686471" y="0"/>
                </a:lnTo>
                <a:lnTo>
                  <a:pt x="686471" y="658155"/>
                </a:lnTo>
                <a:lnTo>
                  <a:pt x="0" y="6581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TextBox 5"/>
          <p:cNvSpPr txBox="1"/>
          <p:nvPr/>
        </p:nvSpPr>
        <p:spPr>
          <a:xfrm>
            <a:off x="552639" y="415681"/>
            <a:ext cx="15877858" cy="1095363"/>
          </a:xfrm>
          <a:prstGeom prst="rect">
            <a:avLst/>
          </a:prstGeom>
        </p:spPr>
        <p:txBody>
          <a:bodyPr lIns="0" tIns="0" rIns="0" bIns="0" rtlCol="0" anchor="t">
            <a:spAutoFit/>
          </a:bodyPr>
          <a:lstStyle/>
          <a:p>
            <a:pPr algn="ctr">
              <a:lnSpc>
                <a:spcPts val="8400"/>
              </a:lnSpc>
            </a:pPr>
            <a:r>
              <a:rPr lang="en-US" sz="6000" b="1">
                <a:solidFill>
                  <a:srgbClr val="FFFFFF"/>
                </a:solidFill>
                <a:latin typeface="Poppins Bold"/>
                <a:ea typeface="Poppins Bold"/>
                <a:cs typeface="Poppins Bold"/>
                <a:sym typeface="Poppins Bold"/>
              </a:rPr>
              <a:t>Priorities 2026 - 2028</a:t>
            </a:r>
          </a:p>
        </p:txBody>
      </p:sp>
      <p:sp>
        <p:nvSpPr>
          <p:cNvPr id="6" name="TextBox 6"/>
          <p:cNvSpPr txBox="1"/>
          <p:nvPr/>
        </p:nvSpPr>
        <p:spPr>
          <a:xfrm>
            <a:off x="9950221" y="2736144"/>
            <a:ext cx="8115300" cy="6082665"/>
          </a:xfrm>
          <a:prstGeom prst="rect">
            <a:avLst/>
          </a:prstGeom>
        </p:spPr>
        <p:txBody>
          <a:bodyPr lIns="0" tIns="0" rIns="0" bIns="0" rtlCol="0" anchor="t">
            <a:spAutoFit/>
          </a:bodyPr>
          <a:lstStyle/>
          <a:p>
            <a:pPr algn="ctr">
              <a:lnSpc>
                <a:spcPts val="4410"/>
              </a:lnSpc>
            </a:pPr>
            <a:r>
              <a:rPr lang="en-US" sz="3150">
                <a:solidFill>
                  <a:srgbClr val="FFFFFF"/>
                </a:solidFill>
                <a:latin typeface="Poppins"/>
                <a:ea typeface="Poppins"/>
                <a:cs typeface="Poppins"/>
                <a:sym typeface="Poppins"/>
              </a:rPr>
              <a:t>At the Youth Voice Conference 2025, the young people who attended voted for the priorities that the current Youth Council are focusing on.</a:t>
            </a:r>
          </a:p>
          <a:p>
            <a:pPr algn="ctr">
              <a:lnSpc>
                <a:spcPts val="4410"/>
              </a:lnSpc>
            </a:pPr>
            <a:endParaRPr lang="en-US" sz="3150">
              <a:solidFill>
                <a:srgbClr val="FFFFFF"/>
              </a:solidFill>
              <a:latin typeface="Poppins"/>
              <a:ea typeface="Poppins"/>
              <a:cs typeface="Poppins"/>
              <a:sym typeface="Poppins"/>
            </a:endParaRPr>
          </a:p>
          <a:p>
            <a:pPr algn="ctr">
              <a:lnSpc>
                <a:spcPts val="4410"/>
              </a:lnSpc>
            </a:pPr>
            <a:r>
              <a:rPr lang="en-US" sz="3150">
                <a:solidFill>
                  <a:srgbClr val="FFFFFF"/>
                </a:solidFill>
                <a:latin typeface="Poppins"/>
                <a:ea typeface="Poppins"/>
                <a:cs typeface="Poppins"/>
                <a:sym typeface="Poppins"/>
              </a:rPr>
              <a:t>This list was made by the previous Youth Council, who worked through all the feedback and information they had collected from Area Youth Forums and looking at national priorities for young people to create this list of options.</a:t>
            </a:r>
          </a:p>
        </p:txBody>
      </p:sp>
      <p:sp>
        <p:nvSpPr>
          <p:cNvPr id="7" name="Freeform 7"/>
          <p:cNvSpPr/>
          <p:nvPr/>
        </p:nvSpPr>
        <p:spPr>
          <a:xfrm>
            <a:off x="8692340" y="6765770"/>
            <a:ext cx="686472" cy="658155"/>
          </a:xfrm>
          <a:custGeom>
            <a:avLst/>
            <a:gdLst/>
            <a:ahLst/>
            <a:cxnLst/>
            <a:rect l="l" t="t" r="r" b="b"/>
            <a:pathLst>
              <a:path w="686472" h="658155">
                <a:moveTo>
                  <a:pt x="0" y="0"/>
                </a:moveTo>
                <a:lnTo>
                  <a:pt x="686471" y="0"/>
                </a:lnTo>
                <a:lnTo>
                  <a:pt x="686471" y="658155"/>
                </a:lnTo>
                <a:lnTo>
                  <a:pt x="0" y="6581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8" name="Freeform 8"/>
          <p:cNvSpPr/>
          <p:nvPr/>
        </p:nvSpPr>
        <p:spPr>
          <a:xfrm>
            <a:off x="8692340" y="7778575"/>
            <a:ext cx="686472" cy="658155"/>
          </a:xfrm>
          <a:custGeom>
            <a:avLst/>
            <a:gdLst/>
            <a:ahLst/>
            <a:cxnLst/>
            <a:rect l="l" t="t" r="r" b="b"/>
            <a:pathLst>
              <a:path w="686472" h="658155">
                <a:moveTo>
                  <a:pt x="0" y="0"/>
                </a:moveTo>
                <a:lnTo>
                  <a:pt x="686471" y="0"/>
                </a:lnTo>
                <a:lnTo>
                  <a:pt x="686471" y="658155"/>
                </a:lnTo>
                <a:lnTo>
                  <a:pt x="0" y="6581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1011881" y="2107700"/>
            <a:ext cx="16230600" cy="2282739"/>
          </a:xfrm>
          <a:custGeom>
            <a:avLst/>
            <a:gdLst/>
            <a:ahLst/>
            <a:cxnLst/>
            <a:rect l="l" t="t" r="r" b="b"/>
            <a:pathLst>
              <a:path w="16230600" h="2282739">
                <a:moveTo>
                  <a:pt x="0" y="0"/>
                </a:moveTo>
                <a:lnTo>
                  <a:pt x="16230600" y="0"/>
                </a:lnTo>
                <a:lnTo>
                  <a:pt x="16230600" y="2282739"/>
                </a:lnTo>
                <a:lnTo>
                  <a:pt x="0" y="2282739"/>
                </a:lnTo>
                <a:lnTo>
                  <a:pt x="0" y="0"/>
                </a:lnTo>
                <a:close/>
              </a:path>
            </a:pathLst>
          </a:custGeom>
          <a:blipFill>
            <a:blip r:embed="rId4"/>
            <a:stretch>
              <a:fillRect l="-21677" t="-281659" r="-21677" b="-66821"/>
            </a:stretch>
          </a:blipFill>
        </p:spPr>
        <p:txBody>
          <a:bodyPr/>
          <a:lstStyle/>
          <a:p>
            <a:endParaRPr lang="en-GB"/>
          </a:p>
        </p:txBody>
      </p:sp>
      <p:sp>
        <p:nvSpPr>
          <p:cNvPr id="5" name="TextBox 5"/>
          <p:cNvSpPr txBox="1"/>
          <p:nvPr/>
        </p:nvSpPr>
        <p:spPr>
          <a:xfrm>
            <a:off x="1011881" y="476574"/>
            <a:ext cx="15726914" cy="1095363"/>
          </a:xfrm>
          <a:prstGeom prst="rect">
            <a:avLst/>
          </a:prstGeom>
        </p:spPr>
        <p:txBody>
          <a:bodyPr lIns="0" tIns="0" rIns="0" bIns="0" rtlCol="0" anchor="t">
            <a:spAutoFit/>
          </a:bodyPr>
          <a:lstStyle/>
          <a:p>
            <a:pPr algn="ctr">
              <a:lnSpc>
                <a:spcPts val="8400"/>
              </a:lnSpc>
            </a:pPr>
            <a:r>
              <a:rPr lang="en-US" sz="6000" b="1">
                <a:solidFill>
                  <a:srgbClr val="FFFFFF"/>
                </a:solidFill>
                <a:latin typeface="Poppins Bold"/>
                <a:ea typeface="Poppins Bold"/>
                <a:cs typeface="Poppins Bold"/>
                <a:sym typeface="Poppins Bold"/>
              </a:rPr>
              <a:t>Safety Priority</a:t>
            </a:r>
          </a:p>
        </p:txBody>
      </p:sp>
      <p:sp>
        <p:nvSpPr>
          <p:cNvPr id="6" name="TextBox 6"/>
          <p:cNvSpPr txBox="1"/>
          <p:nvPr/>
        </p:nvSpPr>
        <p:spPr>
          <a:xfrm>
            <a:off x="1028700" y="2207335"/>
            <a:ext cx="16230600" cy="2018016"/>
          </a:xfrm>
          <a:prstGeom prst="rect">
            <a:avLst/>
          </a:prstGeom>
        </p:spPr>
        <p:txBody>
          <a:bodyPr lIns="0" tIns="0" rIns="0" bIns="0" rtlCol="0" anchor="t">
            <a:spAutoFit/>
          </a:bodyPr>
          <a:lstStyle/>
          <a:p>
            <a:pPr algn="ctr">
              <a:lnSpc>
                <a:spcPts val="5320"/>
              </a:lnSpc>
            </a:pPr>
            <a:r>
              <a:rPr lang="en-US" sz="3800" b="1">
                <a:solidFill>
                  <a:srgbClr val="000000"/>
                </a:solidFill>
                <a:latin typeface="Poppins Bold"/>
                <a:ea typeface="Poppins Bold"/>
                <a:cs typeface="Poppins Bold"/>
                <a:sym typeface="Poppins Bold"/>
              </a:rPr>
              <a:t>Themes identified by young people:</a:t>
            </a:r>
          </a:p>
          <a:p>
            <a:pPr algn="ctr">
              <a:lnSpc>
                <a:spcPts val="5320"/>
              </a:lnSpc>
              <a:spcBef>
                <a:spcPct val="0"/>
              </a:spcBef>
            </a:pPr>
            <a:r>
              <a:rPr lang="en-US" sz="3800">
                <a:solidFill>
                  <a:srgbClr val="000000"/>
                </a:solidFill>
                <a:latin typeface="Poppins"/>
                <a:ea typeface="Poppins"/>
                <a:cs typeface="Poppins"/>
                <a:sym typeface="Poppins"/>
              </a:rPr>
              <a:t>Violence, cyberbullying, night time safety, knife crime, intimidation, drugs, schools, law, youth voice, discrimination &amp; harassment</a:t>
            </a:r>
          </a:p>
        </p:txBody>
      </p:sp>
      <p:sp>
        <p:nvSpPr>
          <p:cNvPr id="7" name="Freeform 7"/>
          <p:cNvSpPr/>
          <p:nvPr/>
        </p:nvSpPr>
        <p:spPr>
          <a:xfrm>
            <a:off x="1011881" y="4599989"/>
            <a:ext cx="16230600" cy="4658311"/>
          </a:xfrm>
          <a:custGeom>
            <a:avLst/>
            <a:gdLst/>
            <a:ahLst/>
            <a:cxnLst/>
            <a:rect l="l" t="t" r="r" b="b"/>
            <a:pathLst>
              <a:path w="16230600" h="4658311">
                <a:moveTo>
                  <a:pt x="0" y="0"/>
                </a:moveTo>
                <a:lnTo>
                  <a:pt x="16230600" y="0"/>
                </a:lnTo>
                <a:lnTo>
                  <a:pt x="16230600" y="4658311"/>
                </a:lnTo>
                <a:lnTo>
                  <a:pt x="0" y="4658311"/>
                </a:lnTo>
                <a:lnTo>
                  <a:pt x="0" y="0"/>
                </a:lnTo>
                <a:close/>
              </a:path>
            </a:pathLst>
          </a:custGeom>
          <a:blipFill>
            <a:blip r:embed="rId4"/>
            <a:stretch>
              <a:fillRect l="-21677" t="-107824" r="-21677" b="-11947"/>
            </a:stretch>
          </a:blipFill>
        </p:spPr>
        <p:txBody>
          <a:bodyPr/>
          <a:lstStyle/>
          <a:p>
            <a:endParaRPr lang="en-GB"/>
          </a:p>
        </p:txBody>
      </p:sp>
      <p:sp>
        <p:nvSpPr>
          <p:cNvPr id="8" name="TextBox 8"/>
          <p:cNvSpPr txBox="1"/>
          <p:nvPr/>
        </p:nvSpPr>
        <p:spPr>
          <a:xfrm>
            <a:off x="1028700" y="4703299"/>
            <a:ext cx="16230600" cy="516890"/>
          </a:xfrm>
          <a:prstGeom prst="rect">
            <a:avLst/>
          </a:prstGeom>
        </p:spPr>
        <p:txBody>
          <a:bodyPr lIns="0" tIns="0" rIns="0" bIns="0" rtlCol="0" anchor="t">
            <a:spAutoFit/>
          </a:bodyPr>
          <a:lstStyle/>
          <a:p>
            <a:pPr algn="ctr">
              <a:lnSpc>
                <a:spcPts val="4060"/>
              </a:lnSpc>
              <a:spcBef>
                <a:spcPct val="0"/>
              </a:spcBef>
            </a:pPr>
            <a:r>
              <a:rPr lang="en-US" sz="2900">
                <a:solidFill>
                  <a:srgbClr val="000000"/>
                </a:solidFill>
                <a:latin typeface="Poppins"/>
                <a:ea typeface="Poppins"/>
                <a:cs typeface="Poppins"/>
                <a:sym typeface="Poppins"/>
              </a:rPr>
              <a:t>“Young girls or teenage girls are never safe in the city!”</a:t>
            </a:r>
          </a:p>
        </p:txBody>
      </p:sp>
      <p:sp>
        <p:nvSpPr>
          <p:cNvPr id="9" name="TextBox 9"/>
          <p:cNvSpPr txBox="1"/>
          <p:nvPr/>
        </p:nvSpPr>
        <p:spPr>
          <a:xfrm>
            <a:off x="1019175" y="7536809"/>
            <a:ext cx="16230600" cy="1500491"/>
          </a:xfrm>
          <a:prstGeom prst="rect">
            <a:avLst/>
          </a:prstGeom>
        </p:spPr>
        <p:txBody>
          <a:bodyPr lIns="0" tIns="0" rIns="0" bIns="0" rtlCol="0" anchor="t">
            <a:spAutoFit/>
          </a:bodyPr>
          <a:lstStyle/>
          <a:p>
            <a:pPr algn="ctr">
              <a:lnSpc>
                <a:spcPts val="3920"/>
              </a:lnSpc>
              <a:spcBef>
                <a:spcPct val="0"/>
              </a:spcBef>
            </a:pPr>
            <a:r>
              <a:rPr lang="en-US" sz="2800">
                <a:solidFill>
                  <a:srgbClr val="000000"/>
                </a:solidFill>
                <a:latin typeface="Poppins"/>
                <a:ea typeface="Poppins"/>
                <a:cs typeface="Poppins"/>
                <a:sym typeface="Poppins"/>
              </a:rPr>
              <a:t>“It seems more normalised for young people to carry knives around with them, because they feel the need to protect themselves. This gets dangerous, because knives are then used maliciously, whether that's to protect themselves or just try and impress their friends.”</a:t>
            </a:r>
          </a:p>
        </p:txBody>
      </p:sp>
      <p:sp>
        <p:nvSpPr>
          <p:cNvPr id="10" name="TextBox 10"/>
          <p:cNvSpPr txBox="1"/>
          <p:nvPr/>
        </p:nvSpPr>
        <p:spPr>
          <a:xfrm>
            <a:off x="7626102" y="5422183"/>
            <a:ext cx="3035796" cy="516890"/>
          </a:xfrm>
          <a:prstGeom prst="rect">
            <a:avLst/>
          </a:prstGeom>
        </p:spPr>
        <p:txBody>
          <a:bodyPr lIns="0" tIns="0" rIns="0" bIns="0" rtlCol="0" anchor="t">
            <a:spAutoFit/>
          </a:bodyPr>
          <a:lstStyle/>
          <a:p>
            <a:pPr algn="ctr">
              <a:lnSpc>
                <a:spcPts val="4060"/>
              </a:lnSpc>
              <a:spcBef>
                <a:spcPct val="0"/>
              </a:spcBef>
            </a:pPr>
            <a:r>
              <a:rPr lang="en-US" sz="2900">
                <a:solidFill>
                  <a:srgbClr val="000000"/>
                </a:solidFill>
                <a:latin typeface="Poppins"/>
                <a:ea typeface="Poppins"/>
                <a:cs typeface="Poppins"/>
                <a:sym typeface="Poppins"/>
              </a:rPr>
              <a:t>“Gang violence” </a:t>
            </a:r>
          </a:p>
        </p:txBody>
      </p:sp>
      <p:sp>
        <p:nvSpPr>
          <p:cNvPr id="11" name="TextBox 11"/>
          <p:cNvSpPr txBox="1"/>
          <p:nvPr/>
        </p:nvSpPr>
        <p:spPr>
          <a:xfrm>
            <a:off x="7076776" y="6141067"/>
            <a:ext cx="4100810" cy="516890"/>
          </a:xfrm>
          <a:prstGeom prst="rect">
            <a:avLst/>
          </a:prstGeom>
        </p:spPr>
        <p:txBody>
          <a:bodyPr lIns="0" tIns="0" rIns="0" bIns="0" rtlCol="0" anchor="t">
            <a:spAutoFit/>
          </a:bodyPr>
          <a:lstStyle/>
          <a:p>
            <a:pPr algn="ctr">
              <a:lnSpc>
                <a:spcPts val="4060"/>
              </a:lnSpc>
              <a:spcBef>
                <a:spcPct val="0"/>
              </a:spcBef>
            </a:pPr>
            <a:r>
              <a:rPr lang="en-US" sz="2900">
                <a:solidFill>
                  <a:srgbClr val="000000"/>
                </a:solidFill>
                <a:latin typeface="Poppins"/>
                <a:ea typeface="Poppins"/>
                <a:cs typeface="Poppins"/>
                <a:sym typeface="Poppins"/>
              </a:rPr>
              <a:t>“Travelling in the dark”</a:t>
            </a:r>
          </a:p>
        </p:txBody>
      </p:sp>
      <p:sp>
        <p:nvSpPr>
          <p:cNvPr id="12" name="TextBox 12"/>
          <p:cNvSpPr txBox="1"/>
          <p:nvPr/>
        </p:nvSpPr>
        <p:spPr>
          <a:xfrm>
            <a:off x="2119608" y="6852945"/>
            <a:ext cx="14015145" cy="516890"/>
          </a:xfrm>
          <a:prstGeom prst="rect">
            <a:avLst/>
          </a:prstGeom>
        </p:spPr>
        <p:txBody>
          <a:bodyPr lIns="0" tIns="0" rIns="0" bIns="0" rtlCol="0" anchor="t">
            <a:spAutoFit/>
          </a:bodyPr>
          <a:lstStyle/>
          <a:p>
            <a:pPr algn="ctr">
              <a:lnSpc>
                <a:spcPts val="4060"/>
              </a:lnSpc>
              <a:spcBef>
                <a:spcPct val="0"/>
              </a:spcBef>
            </a:pPr>
            <a:r>
              <a:rPr lang="en-US" sz="2900">
                <a:solidFill>
                  <a:srgbClr val="000000"/>
                </a:solidFill>
                <a:latin typeface="Poppins"/>
                <a:ea typeface="Poppins"/>
                <a:cs typeface="Poppins"/>
                <a:sym typeface="Poppins"/>
              </a:rPr>
              <a:t>“Walking in the street, as you don't know who is out there that is dangerous.”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1011881" y="2107700"/>
            <a:ext cx="16230600" cy="2282739"/>
          </a:xfrm>
          <a:custGeom>
            <a:avLst/>
            <a:gdLst/>
            <a:ahLst/>
            <a:cxnLst/>
            <a:rect l="l" t="t" r="r" b="b"/>
            <a:pathLst>
              <a:path w="16230600" h="2282739">
                <a:moveTo>
                  <a:pt x="0" y="0"/>
                </a:moveTo>
                <a:lnTo>
                  <a:pt x="16230600" y="0"/>
                </a:lnTo>
                <a:lnTo>
                  <a:pt x="16230600" y="2282739"/>
                </a:lnTo>
                <a:lnTo>
                  <a:pt x="0" y="2282739"/>
                </a:lnTo>
                <a:lnTo>
                  <a:pt x="0" y="0"/>
                </a:lnTo>
                <a:close/>
              </a:path>
            </a:pathLst>
          </a:custGeom>
          <a:blipFill>
            <a:blip r:embed="rId4"/>
            <a:stretch>
              <a:fillRect l="-21677" t="-281659" r="-21677" b="-66821"/>
            </a:stretch>
          </a:blipFill>
        </p:spPr>
        <p:txBody>
          <a:bodyPr/>
          <a:lstStyle/>
          <a:p>
            <a:endParaRPr lang="en-GB"/>
          </a:p>
        </p:txBody>
      </p:sp>
      <p:sp>
        <p:nvSpPr>
          <p:cNvPr id="5" name="TextBox 5"/>
          <p:cNvSpPr txBox="1"/>
          <p:nvPr/>
        </p:nvSpPr>
        <p:spPr>
          <a:xfrm>
            <a:off x="1011881" y="476574"/>
            <a:ext cx="15726914" cy="1095363"/>
          </a:xfrm>
          <a:prstGeom prst="rect">
            <a:avLst/>
          </a:prstGeom>
        </p:spPr>
        <p:txBody>
          <a:bodyPr lIns="0" tIns="0" rIns="0" bIns="0" rtlCol="0" anchor="t">
            <a:spAutoFit/>
          </a:bodyPr>
          <a:lstStyle/>
          <a:p>
            <a:pPr algn="ctr">
              <a:lnSpc>
                <a:spcPts val="8400"/>
              </a:lnSpc>
            </a:pPr>
            <a:r>
              <a:rPr lang="en-US" sz="6000" b="1">
                <a:solidFill>
                  <a:srgbClr val="FFFFFF"/>
                </a:solidFill>
                <a:latin typeface="Poppins Bold"/>
                <a:ea typeface="Poppins Bold"/>
                <a:cs typeface="Poppins Bold"/>
                <a:sym typeface="Poppins Bold"/>
              </a:rPr>
              <a:t>Mental Health Priority</a:t>
            </a:r>
          </a:p>
        </p:txBody>
      </p:sp>
      <p:sp>
        <p:nvSpPr>
          <p:cNvPr id="6" name="TextBox 6"/>
          <p:cNvSpPr txBox="1"/>
          <p:nvPr/>
        </p:nvSpPr>
        <p:spPr>
          <a:xfrm>
            <a:off x="1028700" y="2207335"/>
            <a:ext cx="16230600" cy="2018016"/>
          </a:xfrm>
          <a:prstGeom prst="rect">
            <a:avLst/>
          </a:prstGeom>
        </p:spPr>
        <p:txBody>
          <a:bodyPr lIns="0" tIns="0" rIns="0" bIns="0" rtlCol="0" anchor="t">
            <a:spAutoFit/>
          </a:bodyPr>
          <a:lstStyle/>
          <a:p>
            <a:pPr algn="ctr">
              <a:lnSpc>
                <a:spcPts val="5320"/>
              </a:lnSpc>
            </a:pPr>
            <a:r>
              <a:rPr lang="en-US" sz="3800" b="1">
                <a:solidFill>
                  <a:srgbClr val="000000"/>
                </a:solidFill>
                <a:latin typeface="Poppins Bold"/>
                <a:ea typeface="Poppins Bold"/>
                <a:cs typeface="Poppins Bold"/>
                <a:sym typeface="Poppins Bold"/>
              </a:rPr>
              <a:t>Themes identified by young people:</a:t>
            </a:r>
          </a:p>
          <a:p>
            <a:pPr algn="ctr">
              <a:lnSpc>
                <a:spcPts val="5320"/>
              </a:lnSpc>
              <a:spcBef>
                <a:spcPct val="0"/>
              </a:spcBef>
            </a:pPr>
            <a:r>
              <a:rPr lang="en-US" sz="3800">
                <a:solidFill>
                  <a:srgbClr val="000000"/>
                </a:solidFill>
                <a:latin typeface="Poppins"/>
                <a:ea typeface="Poppins"/>
                <a:cs typeface="Poppins"/>
                <a:sym typeface="Poppins"/>
              </a:rPr>
              <a:t>Awareness, social media, NHS &amp; council support, symptoms &amp; conditions, schools, home &amp; belonging</a:t>
            </a:r>
          </a:p>
        </p:txBody>
      </p:sp>
      <p:grpSp>
        <p:nvGrpSpPr>
          <p:cNvPr id="7" name="Group 7"/>
          <p:cNvGrpSpPr/>
          <p:nvPr/>
        </p:nvGrpSpPr>
        <p:grpSpPr>
          <a:xfrm>
            <a:off x="1011881" y="4599989"/>
            <a:ext cx="16247419" cy="5253551"/>
            <a:chOff x="0" y="0"/>
            <a:chExt cx="21663226" cy="7004735"/>
          </a:xfrm>
        </p:grpSpPr>
        <p:sp>
          <p:nvSpPr>
            <p:cNvPr id="8" name="Freeform 8"/>
            <p:cNvSpPr/>
            <p:nvPr/>
          </p:nvSpPr>
          <p:spPr>
            <a:xfrm>
              <a:off x="0" y="0"/>
              <a:ext cx="21640800" cy="7004735"/>
            </a:xfrm>
            <a:custGeom>
              <a:avLst/>
              <a:gdLst/>
              <a:ahLst/>
              <a:cxnLst/>
              <a:rect l="l" t="t" r="r" b="b"/>
              <a:pathLst>
                <a:path w="21640800" h="7004735">
                  <a:moveTo>
                    <a:pt x="0" y="0"/>
                  </a:moveTo>
                  <a:lnTo>
                    <a:pt x="21640800" y="0"/>
                  </a:lnTo>
                  <a:lnTo>
                    <a:pt x="21640800" y="7004735"/>
                  </a:lnTo>
                  <a:lnTo>
                    <a:pt x="0" y="7004735"/>
                  </a:lnTo>
                  <a:lnTo>
                    <a:pt x="0" y="0"/>
                  </a:lnTo>
                  <a:close/>
                </a:path>
              </a:pathLst>
            </a:custGeom>
            <a:blipFill>
              <a:blip r:embed="rId4"/>
              <a:stretch>
                <a:fillRect l="-22209" t="-96316" r="-22209"/>
              </a:stretch>
            </a:blipFill>
          </p:spPr>
          <p:txBody>
            <a:bodyPr/>
            <a:lstStyle/>
            <a:p>
              <a:endParaRPr lang="en-GB"/>
            </a:p>
          </p:txBody>
        </p:sp>
        <p:sp>
          <p:nvSpPr>
            <p:cNvPr id="9" name="TextBox 9"/>
            <p:cNvSpPr txBox="1"/>
            <p:nvPr/>
          </p:nvSpPr>
          <p:spPr>
            <a:xfrm>
              <a:off x="22426" y="166322"/>
              <a:ext cx="21640800" cy="1311698"/>
            </a:xfrm>
            <a:prstGeom prst="rect">
              <a:avLst/>
            </a:prstGeom>
          </p:spPr>
          <p:txBody>
            <a:bodyPr lIns="0" tIns="0" rIns="0" bIns="0" rtlCol="0" anchor="t">
              <a:spAutoFit/>
            </a:bodyPr>
            <a:lstStyle/>
            <a:p>
              <a:pPr algn="ctr">
                <a:lnSpc>
                  <a:spcPts val="3920"/>
                </a:lnSpc>
                <a:spcBef>
                  <a:spcPct val="0"/>
                </a:spcBef>
              </a:pPr>
              <a:r>
                <a:rPr lang="en-US" sz="2800">
                  <a:solidFill>
                    <a:srgbClr val="000000"/>
                  </a:solidFill>
                  <a:latin typeface="Poppins"/>
                  <a:ea typeface="Poppins"/>
                  <a:cs typeface="Poppins"/>
                  <a:sym typeface="Poppins"/>
                </a:rPr>
                <a:t>“[Mental health services] takes ages. There is so many people that need it and just not enough support to help everyone at the same time”</a:t>
              </a:r>
            </a:p>
          </p:txBody>
        </p:sp>
        <p:sp>
          <p:nvSpPr>
            <p:cNvPr id="10" name="TextBox 10"/>
            <p:cNvSpPr txBox="1"/>
            <p:nvPr/>
          </p:nvSpPr>
          <p:spPr>
            <a:xfrm>
              <a:off x="22426" y="4626732"/>
              <a:ext cx="21640800" cy="1972079"/>
            </a:xfrm>
            <a:prstGeom prst="rect">
              <a:avLst/>
            </a:prstGeom>
          </p:spPr>
          <p:txBody>
            <a:bodyPr lIns="0" tIns="0" rIns="0" bIns="0" rtlCol="0" anchor="t">
              <a:spAutoFit/>
            </a:bodyPr>
            <a:lstStyle/>
            <a:p>
              <a:pPr algn="ctr">
                <a:lnSpc>
                  <a:spcPts val="3920"/>
                </a:lnSpc>
                <a:spcBef>
                  <a:spcPct val="0"/>
                </a:spcBef>
              </a:pPr>
              <a:r>
                <a:rPr lang="en-US" sz="2800">
                  <a:solidFill>
                    <a:srgbClr val="000000"/>
                  </a:solidFill>
                  <a:latin typeface="Poppins"/>
                  <a:ea typeface="Poppins"/>
                  <a:cs typeface="Poppins"/>
                  <a:sym typeface="Poppins"/>
                </a:rPr>
                <a:t>“In general teenagers usually have some sh*t going on as we literally have hormones racing through our bodies . But also one issue is that when we tell people our concerns about our mental health, adults say it doesn't count because we are just kids.”</a:t>
              </a:r>
            </a:p>
          </p:txBody>
        </p:sp>
        <p:sp>
          <p:nvSpPr>
            <p:cNvPr id="11" name="TextBox 11"/>
            <p:cNvSpPr txBox="1"/>
            <p:nvPr/>
          </p:nvSpPr>
          <p:spPr>
            <a:xfrm>
              <a:off x="0" y="1935220"/>
              <a:ext cx="21640800" cy="619760"/>
            </a:xfrm>
            <a:prstGeom prst="rect">
              <a:avLst/>
            </a:prstGeom>
          </p:spPr>
          <p:txBody>
            <a:bodyPr lIns="0" tIns="0" rIns="0" bIns="0" rtlCol="0" anchor="t">
              <a:spAutoFit/>
            </a:bodyPr>
            <a:lstStyle/>
            <a:p>
              <a:pPr algn="ctr">
                <a:lnSpc>
                  <a:spcPts val="3780"/>
                </a:lnSpc>
                <a:spcBef>
                  <a:spcPct val="0"/>
                </a:spcBef>
              </a:pPr>
              <a:r>
                <a:rPr lang="en-US" sz="2700">
                  <a:solidFill>
                    <a:srgbClr val="000000"/>
                  </a:solidFill>
                  <a:latin typeface="Poppins"/>
                  <a:ea typeface="Poppins"/>
                  <a:cs typeface="Poppins"/>
                  <a:sym typeface="Poppins"/>
                </a:rPr>
                <a:t>“Not enough support for certain mental health conditions and it might feel scary to reach out”</a:t>
              </a:r>
            </a:p>
          </p:txBody>
        </p:sp>
        <p:sp>
          <p:nvSpPr>
            <p:cNvPr id="12" name="TextBox 12"/>
            <p:cNvSpPr txBox="1"/>
            <p:nvPr/>
          </p:nvSpPr>
          <p:spPr>
            <a:xfrm>
              <a:off x="0" y="3006550"/>
              <a:ext cx="21640800" cy="1311698"/>
            </a:xfrm>
            <a:prstGeom prst="rect">
              <a:avLst/>
            </a:prstGeom>
          </p:spPr>
          <p:txBody>
            <a:bodyPr lIns="0" tIns="0" rIns="0" bIns="0" rtlCol="0" anchor="t">
              <a:spAutoFit/>
            </a:bodyPr>
            <a:lstStyle/>
            <a:p>
              <a:pPr algn="ctr">
                <a:lnSpc>
                  <a:spcPts val="3920"/>
                </a:lnSpc>
                <a:spcBef>
                  <a:spcPct val="0"/>
                </a:spcBef>
              </a:pPr>
              <a:r>
                <a:rPr lang="en-US" sz="2800">
                  <a:solidFill>
                    <a:srgbClr val="000000"/>
                  </a:solidFill>
                  <a:latin typeface="Poppins"/>
                  <a:ea typeface="Poppins"/>
                  <a:cs typeface="Poppins"/>
                  <a:sym typeface="Poppins"/>
                </a:rPr>
                <a:t>“Social media seems to be a problem that harms children's mental health, there should be more things to do outside of school so people aren't constantly on social media.”</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1011881" y="2107700"/>
            <a:ext cx="16230600" cy="2282739"/>
          </a:xfrm>
          <a:custGeom>
            <a:avLst/>
            <a:gdLst/>
            <a:ahLst/>
            <a:cxnLst/>
            <a:rect l="l" t="t" r="r" b="b"/>
            <a:pathLst>
              <a:path w="16230600" h="2282739">
                <a:moveTo>
                  <a:pt x="0" y="0"/>
                </a:moveTo>
                <a:lnTo>
                  <a:pt x="16230600" y="0"/>
                </a:lnTo>
                <a:lnTo>
                  <a:pt x="16230600" y="2282739"/>
                </a:lnTo>
                <a:lnTo>
                  <a:pt x="0" y="2282739"/>
                </a:lnTo>
                <a:lnTo>
                  <a:pt x="0" y="0"/>
                </a:lnTo>
                <a:close/>
              </a:path>
            </a:pathLst>
          </a:custGeom>
          <a:blipFill>
            <a:blip r:embed="rId4"/>
            <a:stretch>
              <a:fillRect l="-21677" t="-281659" r="-21677" b="-66821"/>
            </a:stretch>
          </a:blipFill>
        </p:spPr>
        <p:txBody>
          <a:bodyPr/>
          <a:lstStyle/>
          <a:p>
            <a:endParaRPr lang="en-GB"/>
          </a:p>
        </p:txBody>
      </p:sp>
      <p:sp>
        <p:nvSpPr>
          <p:cNvPr id="5" name="TextBox 5"/>
          <p:cNvSpPr txBox="1"/>
          <p:nvPr/>
        </p:nvSpPr>
        <p:spPr>
          <a:xfrm>
            <a:off x="1011881" y="476574"/>
            <a:ext cx="15726914" cy="1095363"/>
          </a:xfrm>
          <a:prstGeom prst="rect">
            <a:avLst/>
          </a:prstGeom>
        </p:spPr>
        <p:txBody>
          <a:bodyPr lIns="0" tIns="0" rIns="0" bIns="0" rtlCol="0" anchor="t">
            <a:spAutoFit/>
          </a:bodyPr>
          <a:lstStyle/>
          <a:p>
            <a:pPr algn="ctr">
              <a:lnSpc>
                <a:spcPts val="8400"/>
              </a:lnSpc>
            </a:pPr>
            <a:r>
              <a:rPr lang="en-US" sz="6000" b="1">
                <a:solidFill>
                  <a:srgbClr val="FFFFFF"/>
                </a:solidFill>
                <a:latin typeface="Poppins Bold"/>
                <a:ea typeface="Poppins Bold"/>
                <a:cs typeface="Poppins Bold"/>
                <a:sym typeface="Poppins Bold"/>
              </a:rPr>
              <a:t>Equality &amp; Discrimination Priority</a:t>
            </a:r>
          </a:p>
        </p:txBody>
      </p:sp>
      <p:sp>
        <p:nvSpPr>
          <p:cNvPr id="6" name="TextBox 6"/>
          <p:cNvSpPr txBox="1"/>
          <p:nvPr/>
        </p:nvSpPr>
        <p:spPr>
          <a:xfrm>
            <a:off x="1028700" y="2207335"/>
            <a:ext cx="16230600" cy="2684766"/>
          </a:xfrm>
          <a:prstGeom prst="rect">
            <a:avLst/>
          </a:prstGeom>
        </p:spPr>
        <p:txBody>
          <a:bodyPr lIns="0" tIns="0" rIns="0" bIns="0" rtlCol="0" anchor="t">
            <a:spAutoFit/>
          </a:bodyPr>
          <a:lstStyle/>
          <a:p>
            <a:pPr algn="ctr">
              <a:lnSpc>
                <a:spcPts val="5320"/>
              </a:lnSpc>
            </a:pPr>
            <a:r>
              <a:rPr lang="en-US" sz="3800" b="1" dirty="0">
                <a:solidFill>
                  <a:srgbClr val="000000"/>
                </a:solidFill>
                <a:latin typeface="Poppins Bold"/>
                <a:ea typeface="Poppins Bold"/>
                <a:cs typeface="Poppins Bold"/>
                <a:sym typeface="Poppins Bold"/>
              </a:rPr>
              <a:t>Themes identified by young people:</a:t>
            </a:r>
          </a:p>
          <a:p>
            <a:pPr algn="ctr">
              <a:lnSpc>
                <a:spcPts val="5320"/>
              </a:lnSpc>
            </a:pPr>
            <a:r>
              <a:rPr lang="en-US" sz="3800" dirty="0">
                <a:solidFill>
                  <a:srgbClr val="000000"/>
                </a:solidFill>
                <a:latin typeface="Poppins"/>
                <a:ea typeface="Poppins"/>
                <a:cs typeface="Poppins"/>
                <a:sym typeface="Poppins"/>
              </a:rPr>
              <a:t>Online discrimination, racism, disability, gender &amp; identity, faith &amp; belief</a:t>
            </a:r>
          </a:p>
          <a:p>
            <a:pPr algn="ctr">
              <a:lnSpc>
                <a:spcPts val="5320"/>
              </a:lnSpc>
              <a:spcBef>
                <a:spcPct val="0"/>
              </a:spcBef>
            </a:pPr>
            <a:endParaRPr lang="en-US" sz="3800" dirty="0">
              <a:solidFill>
                <a:srgbClr val="000000"/>
              </a:solidFill>
              <a:latin typeface="Poppins"/>
              <a:ea typeface="Poppins"/>
              <a:cs typeface="Poppins"/>
              <a:sym typeface="Poppins"/>
            </a:endParaRPr>
          </a:p>
        </p:txBody>
      </p:sp>
      <p:grpSp>
        <p:nvGrpSpPr>
          <p:cNvPr id="7" name="Group 7"/>
          <p:cNvGrpSpPr/>
          <p:nvPr/>
        </p:nvGrpSpPr>
        <p:grpSpPr>
          <a:xfrm>
            <a:off x="1011881" y="4599989"/>
            <a:ext cx="16247419" cy="4658311"/>
            <a:chOff x="0" y="0"/>
            <a:chExt cx="21663226" cy="6211081"/>
          </a:xfrm>
        </p:grpSpPr>
        <p:sp>
          <p:nvSpPr>
            <p:cNvPr id="8" name="Freeform 8"/>
            <p:cNvSpPr/>
            <p:nvPr/>
          </p:nvSpPr>
          <p:spPr>
            <a:xfrm>
              <a:off x="0" y="0"/>
              <a:ext cx="21640800" cy="6211081"/>
            </a:xfrm>
            <a:custGeom>
              <a:avLst/>
              <a:gdLst/>
              <a:ahLst/>
              <a:cxnLst/>
              <a:rect l="l" t="t" r="r" b="b"/>
              <a:pathLst>
                <a:path w="21640800" h="6211081">
                  <a:moveTo>
                    <a:pt x="0" y="0"/>
                  </a:moveTo>
                  <a:lnTo>
                    <a:pt x="21640800" y="0"/>
                  </a:lnTo>
                  <a:lnTo>
                    <a:pt x="21640800" y="6211081"/>
                  </a:lnTo>
                  <a:lnTo>
                    <a:pt x="0" y="6211081"/>
                  </a:lnTo>
                  <a:lnTo>
                    <a:pt x="0" y="0"/>
                  </a:lnTo>
                  <a:close/>
                </a:path>
              </a:pathLst>
            </a:custGeom>
            <a:blipFill>
              <a:blip r:embed="rId4"/>
              <a:stretch>
                <a:fillRect l="-21677" t="-107824" r="-21677" b="-11947"/>
              </a:stretch>
            </a:blipFill>
          </p:spPr>
          <p:txBody>
            <a:bodyPr/>
            <a:lstStyle/>
            <a:p>
              <a:endParaRPr lang="en-GB" dirty="0"/>
            </a:p>
          </p:txBody>
        </p:sp>
        <p:sp>
          <p:nvSpPr>
            <p:cNvPr id="9" name="TextBox 9"/>
            <p:cNvSpPr txBox="1"/>
            <p:nvPr/>
          </p:nvSpPr>
          <p:spPr>
            <a:xfrm>
              <a:off x="22426" y="355600"/>
              <a:ext cx="21640800" cy="663787"/>
            </a:xfrm>
            <a:prstGeom prst="rect">
              <a:avLst/>
            </a:prstGeom>
          </p:spPr>
          <p:txBody>
            <a:bodyPr lIns="0" tIns="0" rIns="0" bIns="0" rtlCol="0" anchor="t">
              <a:spAutoFit/>
            </a:bodyPr>
            <a:lstStyle/>
            <a:p>
              <a:pPr algn="ctr">
                <a:lnSpc>
                  <a:spcPts val="4060"/>
                </a:lnSpc>
                <a:spcBef>
                  <a:spcPct val="0"/>
                </a:spcBef>
              </a:pPr>
              <a:r>
                <a:rPr lang="en-US" sz="2900">
                  <a:solidFill>
                    <a:srgbClr val="000000"/>
                  </a:solidFill>
                  <a:latin typeface="Poppins"/>
                  <a:ea typeface="Poppins"/>
                  <a:cs typeface="Poppins"/>
                  <a:sym typeface="Poppins"/>
                </a:rPr>
                <a:t>“Right wing ideology and the rise of the manosphere!”</a:t>
              </a:r>
            </a:p>
          </p:txBody>
        </p:sp>
        <p:sp>
          <p:nvSpPr>
            <p:cNvPr id="10" name="TextBox 10"/>
            <p:cNvSpPr txBox="1"/>
            <p:nvPr/>
          </p:nvSpPr>
          <p:spPr>
            <a:xfrm>
              <a:off x="9726" y="3931634"/>
              <a:ext cx="21640800" cy="1972079"/>
            </a:xfrm>
            <a:prstGeom prst="rect">
              <a:avLst/>
            </a:prstGeom>
          </p:spPr>
          <p:txBody>
            <a:bodyPr lIns="0" tIns="0" rIns="0" bIns="0" rtlCol="0" anchor="t">
              <a:spAutoFit/>
            </a:bodyPr>
            <a:lstStyle/>
            <a:p>
              <a:pPr algn="ctr">
                <a:lnSpc>
                  <a:spcPts val="3920"/>
                </a:lnSpc>
                <a:spcBef>
                  <a:spcPct val="0"/>
                </a:spcBef>
              </a:pPr>
              <a:r>
                <a:rPr lang="en-US" sz="2800">
                  <a:solidFill>
                    <a:srgbClr val="000000"/>
                  </a:solidFill>
                  <a:latin typeface="Poppins"/>
                  <a:ea typeface="Poppins"/>
                  <a:cs typeface="Poppins"/>
                  <a:sym typeface="Poppins"/>
                </a:rPr>
                <a:t>“Online is where most discrimination takes place. Not so much in person as people are more scared to do it and online is like a safety barrier and they feel they can get away with it. More sanctions should be imposed on online hate”</a:t>
              </a:r>
            </a:p>
          </p:txBody>
        </p:sp>
        <p:sp>
          <p:nvSpPr>
            <p:cNvPr id="11" name="TextBox 11"/>
            <p:cNvSpPr txBox="1"/>
            <p:nvPr/>
          </p:nvSpPr>
          <p:spPr>
            <a:xfrm>
              <a:off x="22426" y="1857587"/>
              <a:ext cx="21640800" cy="1349587"/>
            </a:xfrm>
            <a:prstGeom prst="rect">
              <a:avLst/>
            </a:prstGeom>
          </p:spPr>
          <p:txBody>
            <a:bodyPr lIns="0" tIns="0" rIns="0" bIns="0" rtlCol="0" anchor="t">
              <a:spAutoFit/>
            </a:bodyPr>
            <a:lstStyle/>
            <a:p>
              <a:pPr algn="ctr">
                <a:lnSpc>
                  <a:spcPts val="4060"/>
                </a:lnSpc>
                <a:spcBef>
                  <a:spcPct val="0"/>
                </a:spcBef>
              </a:pPr>
              <a:r>
                <a:rPr lang="en-US" sz="2900">
                  <a:solidFill>
                    <a:srgbClr val="000000"/>
                  </a:solidFill>
                  <a:latin typeface="Poppins"/>
                  <a:ea typeface="Poppins"/>
                  <a:cs typeface="Poppins"/>
                  <a:sym typeface="Poppins"/>
                </a:rPr>
                <a:t>“Not enough education on equality (more teaching on history of migration, ways to show equality etc) and also more community events for people to meet more people”</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4820478" y="2419555"/>
            <a:ext cx="8951844" cy="4971857"/>
          </a:xfrm>
          <a:custGeom>
            <a:avLst/>
            <a:gdLst/>
            <a:ahLst/>
            <a:cxnLst/>
            <a:rect l="l" t="t" r="r" b="b"/>
            <a:pathLst>
              <a:path w="8951844" h="4971857">
                <a:moveTo>
                  <a:pt x="0" y="0"/>
                </a:moveTo>
                <a:lnTo>
                  <a:pt x="8951844" y="0"/>
                </a:lnTo>
                <a:lnTo>
                  <a:pt x="8951844" y="4971857"/>
                </a:lnTo>
                <a:lnTo>
                  <a:pt x="0" y="4971857"/>
                </a:lnTo>
                <a:lnTo>
                  <a:pt x="0" y="0"/>
                </a:lnTo>
                <a:close/>
              </a:path>
            </a:pathLst>
          </a:custGeom>
          <a:blipFill>
            <a:blip r:embed="rId4"/>
            <a:stretch>
              <a:fillRect t="-1314" b="-1314"/>
            </a:stretch>
          </a:blipFill>
        </p:spPr>
        <p:txBody>
          <a:bodyPr/>
          <a:lstStyle/>
          <a:p>
            <a:endParaRPr lang="en-GB"/>
          </a:p>
        </p:txBody>
      </p:sp>
      <p:sp>
        <p:nvSpPr>
          <p:cNvPr id="5" name="Freeform 5"/>
          <p:cNvSpPr/>
          <p:nvPr/>
        </p:nvSpPr>
        <p:spPr>
          <a:xfrm>
            <a:off x="4689798" y="2419555"/>
            <a:ext cx="9207784" cy="5560729"/>
          </a:xfrm>
          <a:custGeom>
            <a:avLst/>
            <a:gdLst/>
            <a:ahLst/>
            <a:cxnLst/>
            <a:rect l="l" t="t" r="r" b="b"/>
            <a:pathLst>
              <a:path w="9207784" h="5560729">
                <a:moveTo>
                  <a:pt x="0" y="0"/>
                </a:moveTo>
                <a:lnTo>
                  <a:pt x="9207784" y="0"/>
                </a:lnTo>
                <a:lnTo>
                  <a:pt x="9207784" y="5560729"/>
                </a:lnTo>
                <a:lnTo>
                  <a:pt x="0" y="5560729"/>
                </a:lnTo>
                <a:lnTo>
                  <a:pt x="0" y="0"/>
                </a:lnTo>
                <a:close/>
              </a:path>
            </a:pathLst>
          </a:custGeom>
          <a:blipFill>
            <a:blip r:embed="rId5"/>
            <a:stretch>
              <a:fillRect t="-22791" b="-1398"/>
            </a:stretch>
          </a:blipFill>
        </p:spPr>
        <p:txBody>
          <a:bodyPr/>
          <a:lstStyle/>
          <a:p>
            <a:endParaRPr lang="en-GB"/>
          </a:p>
        </p:txBody>
      </p:sp>
      <p:sp>
        <p:nvSpPr>
          <p:cNvPr id="6" name="Freeform 6"/>
          <p:cNvSpPr/>
          <p:nvPr/>
        </p:nvSpPr>
        <p:spPr>
          <a:xfrm>
            <a:off x="1600390" y="2419555"/>
            <a:ext cx="3220088" cy="2314438"/>
          </a:xfrm>
          <a:custGeom>
            <a:avLst/>
            <a:gdLst/>
            <a:ahLst/>
            <a:cxnLst/>
            <a:rect l="l" t="t" r="r" b="b"/>
            <a:pathLst>
              <a:path w="3220088" h="2314438">
                <a:moveTo>
                  <a:pt x="0" y="0"/>
                </a:moveTo>
                <a:lnTo>
                  <a:pt x="3220088" y="0"/>
                </a:lnTo>
                <a:lnTo>
                  <a:pt x="3220088" y="2314438"/>
                </a:lnTo>
                <a:lnTo>
                  <a:pt x="0" y="2314438"/>
                </a:lnTo>
                <a:lnTo>
                  <a:pt x="0" y="0"/>
                </a:lnTo>
                <a:close/>
              </a:path>
            </a:pathLst>
          </a:custGeom>
          <a:blipFill>
            <a:blip r:embed="rId6"/>
            <a:stretch>
              <a:fillRect/>
            </a:stretch>
          </a:blipFill>
        </p:spPr>
        <p:txBody>
          <a:bodyPr/>
          <a:lstStyle/>
          <a:p>
            <a:endParaRPr lang="en-GB"/>
          </a:p>
        </p:txBody>
      </p:sp>
      <p:sp>
        <p:nvSpPr>
          <p:cNvPr id="7" name="Freeform 7"/>
          <p:cNvSpPr/>
          <p:nvPr/>
        </p:nvSpPr>
        <p:spPr>
          <a:xfrm>
            <a:off x="1600390" y="7158584"/>
            <a:ext cx="3220088" cy="2391761"/>
          </a:xfrm>
          <a:custGeom>
            <a:avLst/>
            <a:gdLst/>
            <a:ahLst/>
            <a:cxnLst/>
            <a:rect l="l" t="t" r="r" b="b"/>
            <a:pathLst>
              <a:path w="3220088" h="2391761">
                <a:moveTo>
                  <a:pt x="0" y="0"/>
                </a:moveTo>
                <a:lnTo>
                  <a:pt x="3220088" y="0"/>
                </a:lnTo>
                <a:lnTo>
                  <a:pt x="3220088" y="2391762"/>
                </a:lnTo>
                <a:lnTo>
                  <a:pt x="0" y="2391762"/>
                </a:lnTo>
                <a:lnTo>
                  <a:pt x="0" y="0"/>
                </a:lnTo>
                <a:close/>
              </a:path>
            </a:pathLst>
          </a:custGeom>
          <a:blipFill>
            <a:blip r:embed="rId7"/>
            <a:stretch>
              <a:fillRect t="-974"/>
            </a:stretch>
          </a:blipFill>
        </p:spPr>
        <p:txBody>
          <a:bodyPr/>
          <a:lstStyle/>
          <a:p>
            <a:endParaRPr lang="en-GB"/>
          </a:p>
        </p:txBody>
      </p:sp>
      <p:sp>
        <p:nvSpPr>
          <p:cNvPr id="8" name="Freeform 8"/>
          <p:cNvSpPr/>
          <p:nvPr/>
        </p:nvSpPr>
        <p:spPr>
          <a:xfrm>
            <a:off x="1600390" y="4733993"/>
            <a:ext cx="3220088" cy="2415066"/>
          </a:xfrm>
          <a:custGeom>
            <a:avLst/>
            <a:gdLst/>
            <a:ahLst/>
            <a:cxnLst/>
            <a:rect l="l" t="t" r="r" b="b"/>
            <a:pathLst>
              <a:path w="3220088" h="2415066">
                <a:moveTo>
                  <a:pt x="0" y="0"/>
                </a:moveTo>
                <a:lnTo>
                  <a:pt x="3220088" y="0"/>
                </a:lnTo>
                <a:lnTo>
                  <a:pt x="3220088" y="2415066"/>
                </a:lnTo>
                <a:lnTo>
                  <a:pt x="0" y="2415066"/>
                </a:lnTo>
                <a:lnTo>
                  <a:pt x="0" y="0"/>
                </a:lnTo>
                <a:close/>
              </a:path>
            </a:pathLst>
          </a:custGeom>
          <a:blipFill>
            <a:blip r:embed="rId8"/>
            <a:stretch>
              <a:fillRect/>
            </a:stretch>
          </a:blipFill>
        </p:spPr>
        <p:txBody>
          <a:bodyPr/>
          <a:lstStyle/>
          <a:p>
            <a:endParaRPr lang="en-GB"/>
          </a:p>
        </p:txBody>
      </p:sp>
      <p:sp>
        <p:nvSpPr>
          <p:cNvPr id="9" name="Freeform 9"/>
          <p:cNvSpPr/>
          <p:nvPr/>
        </p:nvSpPr>
        <p:spPr>
          <a:xfrm>
            <a:off x="13772322" y="2419555"/>
            <a:ext cx="3220088" cy="2314438"/>
          </a:xfrm>
          <a:custGeom>
            <a:avLst/>
            <a:gdLst/>
            <a:ahLst/>
            <a:cxnLst/>
            <a:rect l="l" t="t" r="r" b="b"/>
            <a:pathLst>
              <a:path w="3220088" h="2314438">
                <a:moveTo>
                  <a:pt x="0" y="0"/>
                </a:moveTo>
                <a:lnTo>
                  <a:pt x="3220088" y="0"/>
                </a:lnTo>
                <a:lnTo>
                  <a:pt x="3220088" y="2314438"/>
                </a:lnTo>
                <a:lnTo>
                  <a:pt x="0" y="2314438"/>
                </a:lnTo>
                <a:lnTo>
                  <a:pt x="0" y="0"/>
                </a:lnTo>
                <a:close/>
              </a:path>
            </a:pathLst>
          </a:custGeom>
          <a:blipFill>
            <a:blip r:embed="rId9"/>
            <a:stretch>
              <a:fillRect l="-12472" t="-67085" r="-2007" b="-45282"/>
            </a:stretch>
          </a:blipFill>
        </p:spPr>
        <p:txBody>
          <a:bodyPr/>
          <a:lstStyle/>
          <a:p>
            <a:endParaRPr lang="en-GB"/>
          </a:p>
        </p:txBody>
      </p:sp>
      <p:sp>
        <p:nvSpPr>
          <p:cNvPr id="10" name="Freeform 10"/>
          <p:cNvSpPr/>
          <p:nvPr/>
        </p:nvSpPr>
        <p:spPr>
          <a:xfrm>
            <a:off x="13772322" y="4733993"/>
            <a:ext cx="3220088" cy="2415066"/>
          </a:xfrm>
          <a:custGeom>
            <a:avLst/>
            <a:gdLst/>
            <a:ahLst/>
            <a:cxnLst/>
            <a:rect l="l" t="t" r="r" b="b"/>
            <a:pathLst>
              <a:path w="3220088" h="2415066">
                <a:moveTo>
                  <a:pt x="0" y="0"/>
                </a:moveTo>
                <a:lnTo>
                  <a:pt x="3220088" y="0"/>
                </a:lnTo>
                <a:lnTo>
                  <a:pt x="3220088" y="2415066"/>
                </a:lnTo>
                <a:lnTo>
                  <a:pt x="0" y="2415066"/>
                </a:lnTo>
                <a:lnTo>
                  <a:pt x="0" y="0"/>
                </a:lnTo>
                <a:close/>
              </a:path>
            </a:pathLst>
          </a:custGeom>
          <a:blipFill>
            <a:blip r:embed="rId10"/>
            <a:stretch>
              <a:fillRect/>
            </a:stretch>
          </a:blipFill>
        </p:spPr>
        <p:txBody>
          <a:bodyPr/>
          <a:lstStyle/>
          <a:p>
            <a:endParaRPr lang="en-GB"/>
          </a:p>
        </p:txBody>
      </p:sp>
      <p:sp>
        <p:nvSpPr>
          <p:cNvPr id="11" name="Freeform 11"/>
          <p:cNvSpPr/>
          <p:nvPr/>
        </p:nvSpPr>
        <p:spPr>
          <a:xfrm>
            <a:off x="5820390" y="7149059"/>
            <a:ext cx="3161013" cy="2375810"/>
          </a:xfrm>
          <a:custGeom>
            <a:avLst/>
            <a:gdLst/>
            <a:ahLst/>
            <a:cxnLst/>
            <a:rect l="l" t="t" r="r" b="b"/>
            <a:pathLst>
              <a:path w="3161013" h="2375810">
                <a:moveTo>
                  <a:pt x="0" y="0"/>
                </a:moveTo>
                <a:lnTo>
                  <a:pt x="3161013" y="0"/>
                </a:lnTo>
                <a:lnTo>
                  <a:pt x="3161013" y="2375811"/>
                </a:lnTo>
                <a:lnTo>
                  <a:pt x="0" y="2375811"/>
                </a:lnTo>
                <a:lnTo>
                  <a:pt x="0" y="0"/>
                </a:lnTo>
                <a:close/>
              </a:path>
            </a:pathLst>
          </a:custGeom>
          <a:blipFill>
            <a:blip r:embed="rId11"/>
            <a:stretch>
              <a:fillRect l="-8221" r="-201" b="-8192"/>
            </a:stretch>
          </a:blipFill>
        </p:spPr>
        <p:txBody>
          <a:bodyPr/>
          <a:lstStyle/>
          <a:p>
            <a:endParaRPr lang="en-GB"/>
          </a:p>
        </p:txBody>
      </p:sp>
      <p:sp>
        <p:nvSpPr>
          <p:cNvPr id="12" name="Freeform 12"/>
          <p:cNvSpPr/>
          <p:nvPr/>
        </p:nvSpPr>
        <p:spPr>
          <a:xfrm>
            <a:off x="13772322" y="7158584"/>
            <a:ext cx="3220088" cy="2415066"/>
          </a:xfrm>
          <a:custGeom>
            <a:avLst/>
            <a:gdLst/>
            <a:ahLst/>
            <a:cxnLst/>
            <a:rect l="l" t="t" r="r" b="b"/>
            <a:pathLst>
              <a:path w="3220088" h="2415066">
                <a:moveTo>
                  <a:pt x="0" y="0"/>
                </a:moveTo>
                <a:lnTo>
                  <a:pt x="3220088" y="0"/>
                </a:lnTo>
                <a:lnTo>
                  <a:pt x="3220088" y="2415066"/>
                </a:lnTo>
                <a:lnTo>
                  <a:pt x="0" y="2415066"/>
                </a:lnTo>
                <a:lnTo>
                  <a:pt x="0" y="0"/>
                </a:lnTo>
                <a:close/>
              </a:path>
            </a:pathLst>
          </a:custGeom>
          <a:blipFill>
            <a:blip r:embed="rId12"/>
            <a:stretch>
              <a:fillRect/>
            </a:stretch>
          </a:blipFill>
        </p:spPr>
        <p:txBody>
          <a:bodyPr/>
          <a:lstStyle/>
          <a:p>
            <a:endParaRPr lang="en-GB"/>
          </a:p>
        </p:txBody>
      </p:sp>
      <p:sp>
        <p:nvSpPr>
          <p:cNvPr id="13" name="Freeform 13"/>
          <p:cNvSpPr/>
          <p:nvPr/>
        </p:nvSpPr>
        <p:spPr>
          <a:xfrm>
            <a:off x="8981403" y="7158584"/>
            <a:ext cx="3189200" cy="2366285"/>
          </a:xfrm>
          <a:custGeom>
            <a:avLst/>
            <a:gdLst/>
            <a:ahLst/>
            <a:cxnLst/>
            <a:rect l="l" t="t" r="r" b="b"/>
            <a:pathLst>
              <a:path w="3189200" h="2366285">
                <a:moveTo>
                  <a:pt x="0" y="0"/>
                </a:moveTo>
                <a:lnTo>
                  <a:pt x="3189200" y="0"/>
                </a:lnTo>
                <a:lnTo>
                  <a:pt x="3189200" y="2366286"/>
                </a:lnTo>
                <a:lnTo>
                  <a:pt x="0" y="2366286"/>
                </a:lnTo>
                <a:lnTo>
                  <a:pt x="0" y="0"/>
                </a:lnTo>
                <a:close/>
              </a:path>
            </a:pathLst>
          </a:custGeom>
          <a:blipFill>
            <a:blip r:embed="rId13"/>
            <a:stretch>
              <a:fillRect t="-541" b="-541"/>
            </a:stretch>
          </a:blipFill>
        </p:spPr>
        <p:txBody>
          <a:bodyPr/>
          <a:lstStyle/>
          <a:p>
            <a:endParaRPr lang="en-GB"/>
          </a:p>
        </p:txBody>
      </p:sp>
      <p:sp>
        <p:nvSpPr>
          <p:cNvPr id="14" name="Freeform 14"/>
          <p:cNvSpPr/>
          <p:nvPr/>
        </p:nvSpPr>
        <p:spPr>
          <a:xfrm>
            <a:off x="1600390" y="2419555"/>
            <a:ext cx="3220088" cy="4729504"/>
          </a:xfrm>
          <a:custGeom>
            <a:avLst/>
            <a:gdLst/>
            <a:ahLst/>
            <a:cxnLst/>
            <a:rect l="l" t="t" r="r" b="b"/>
            <a:pathLst>
              <a:path w="3220088" h="4729504">
                <a:moveTo>
                  <a:pt x="0" y="0"/>
                </a:moveTo>
                <a:lnTo>
                  <a:pt x="3220088" y="0"/>
                </a:lnTo>
                <a:lnTo>
                  <a:pt x="3220088" y="4729504"/>
                </a:lnTo>
                <a:lnTo>
                  <a:pt x="0" y="4729504"/>
                </a:lnTo>
                <a:lnTo>
                  <a:pt x="0" y="0"/>
                </a:lnTo>
                <a:close/>
              </a:path>
            </a:pathLst>
          </a:custGeom>
          <a:blipFill>
            <a:blip r:embed="rId14"/>
            <a:stretch>
              <a:fillRect l="-19558" t="-19074" r="-11609"/>
            </a:stretch>
          </a:blipFill>
        </p:spPr>
        <p:txBody>
          <a:bodyPr/>
          <a:lstStyle/>
          <a:p>
            <a:endParaRPr lang="en-GB"/>
          </a:p>
        </p:txBody>
      </p:sp>
      <p:sp>
        <p:nvSpPr>
          <p:cNvPr id="15" name="Freeform 15"/>
          <p:cNvSpPr/>
          <p:nvPr/>
        </p:nvSpPr>
        <p:spPr>
          <a:xfrm>
            <a:off x="13777741" y="2419555"/>
            <a:ext cx="3214668" cy="4729504"/>
          </a:xfrm>
          <a:custGeom>
            <a:avLst/>
            <a:gdLst/>
            <a:ahLst/>
            <a:cxnLst/>
            <a:rect l="l" t="t" r="r" b="b"/>
            <a:pathLst>
              <a:path w="3214668" h="4729504">
                <a:moveTo>
                  <a:pt x="0" y="0"/>
                </a:moveTo>
                <a:lnTo>
                  <a:pt x="3214669" y="0"/>
                </a:lnTo>
                <a:lnTo>
                  <a:pt x="3214669" y="4729504"/>
                </a:lnTo>
                <a:lnTo>
                  <a:pt x="0" y="4729504"/>
                </a:lnTo>
                <a:lnTo>
                  <a:pt x="0" y="0"/>
                </a:lnTo>
                <a:close/>
              </a:path>
            </a:pathLst>
          </a:custGeom>
          <a:blipFill>
            <a:blip r:embed="rId15"/>
            <a:stretch>
              <a:fillRect l="-5170" r="-5170"/>
            </a:stretch>
          </a:blipFill>
        </p:spPr>
        <p:txBody>
          <a:bodyPr/>
          <a:lstStyle/>
          <a:p>
            <a:endParaRPr lang="en-GB"/>
          </a:p>
        </p:txBody>
      </p:sp>
      <p:sp>
        <p:nvSpPr>
          <p:cNvPr id="16" name="Freeform 16"/>
          <p:cNvSpPr/>
          <p:nvPr/>
        </p:nvSpPr>
        <p:spPr>
          <a:xfrm>
            <a:off x="12170603" y="7149059"/>
            <a:ext cx="2959046" cy="2375810"/>
          </a:xfrm>
          <a:custGeom>
            <a:avLst/>
            <a:gdLst/>
            <a:ahLst/>
            <a:cxnLst/>
            <a:rect l="l" t="t" r="r" b="b"/>
            <a:pathLst>
              <a:path w="2959046" h="2375810">
                <a:moveTo>
                  <a:pt x="0" y="0"/>
                </a:moveTo>
                <a:lnTo>
                  <a:pt x="2959047" y="0"/>
                </a:lnTo>
                <a:lnTo>
                  <a:pt x="2959047" y="2375811"/>
                </a:lnTo>
                <a:lnTo>
                  <a:pt x="0" y="2375811"/>
                </a:lnTo>
                <a:lnTo>
                  <a:pt x="0" y="0"/>
                </a:lnTo>
                <a:close/>
              </a:path>
            </a:pathLst>
          </a:custGeom>
          <a:blipFill>
            <a:blip r:embed="rId16"/>
            <a:stretch>
              <a:fillRect t="-37802" b="-28263"/>
            </a:stretch>
          </a:blipFill>
        </p:spPr>
        <p:txBody>
          <a:bodyPr/>
          <a:lstStyle/>
          <a:p>
            <a:endParaRPr lang="en-GB"/>
          </a:p>
        </p:txBody>
      </p:sp>
      <p:sp>
        <p:nvSpPr>
          <p:cNvPr id="17" name="Freeform 17"/>
          <p:cNvSpPr/>
          <p:nvPr/>
        </p:nvSpPr>
        <p:spPr>
          <a:xfrm>
            <a:off x="1600390" y="7158584"/>
            <a:ext cx="4219999" cy="2366285"/>
          </a:xfrm>
          <a:custGeom>
            <a:avLst/>
            <a:gdLst/>
            <a:ahLst/>
            <a:cxnLst/>
            <a:rect l="l" t="t" r="r" b="b"/>
            <a:pathLst>
              <a:path w="4219999" h="2366285">
                <a:moveTo>
                  <a:pt x="0" y="0"/>
                </a:moveTo>
                <a:lnTo>
                  <a:pt x="4220000" y="0"/>
                </a:lnTo>
                <a:lnTo>
                  <a:pt x="4220000" y="2366286"/>
                </a:lnTo>
                <a:lnTo>
                  <a:pt x="0" y="2366286"/>
                </a:lnTo>
                <a:lnTo>
                  <a:pt x="0" y="0"/>
                </a:lnTo>
                <a:close/>
              </a:path>
            </a:pathLst>
          </a:custGeom>
          <a:blipFill>
            <a:blip r:embed="rId17"/>
            <a:stretch>
              <a:fillRect t="-402"/>
            </a:stretch>
          </a:blipFill>
        </p:spPr>
        <p:txBody>
          <a:bodyPr/>
          <a:lstStyle/>
          <a:p>
            <a:endParaRPr lang="en-GB"/>
          </a:p>
        </p:txBody>
      </p:sp>
      <p:sp>
        <p:nvSpPr>
          <p:cNvPr id="18" name="Freeform 18"/>
          <p:cNvSpPr/>
          <p:nvPr/>
        </p:nvSpPr>
        <p:spPr>
          <a:xfrm>
            <a:off x="15129650" y="7149059"/>
            <a:ext cx="1862760" cy="2483680"/>
          </a:xfrm>
          <a:custGeom>
            <a:avLst/>
            <a:gdLst/>
            <a:ahLst/>
            <a:cxnLst/>
            <a:rect l="l" t="t" r="r" b="b"/>
            <a:pathLst>
              <a:path w="1862760" h="2483680">
                <a:moveTo>
                  <a:pt x="0" y="0"/>
                </a:moveTo>
                <a:lnTo>
                  <a:pt x="1862760" y="0"/>
                </a:lnTo>
                <a:lnTo>
                  <a:pt x="1862760" y="2483681"/>
                </a:lnTo>
                <a:lnTo>
                  <a:pt x="0" y="2483681"/>
                </a:lnTo>
                <a:lnTo>
                  <a:pt x="0" y="0"/>
                </a:lnTo>
                <a:close/>
              </a:path>
            </a:pathLst>
          </a:custGeom>
          <a:blipFill>
            <a:blip r:embed="rId18"/>
            <a:stretch>
              <a:fillRect/>
            </a:stretch>
          </a:blipFill>
        </p:spPr>
        <p:txBody>
          <a:bodyPr/>
          <a:lstStyle/>
          <a:p>
            <a:endParaRPr lang="en-GB"/>
          </a:p>
        </p:txBody>
      </p:sp>
      <p:sp>
        <p:nvSpPr>
          <p:cNvPr id="19" name="TextBox 19"/>
          <p:cNvSpPr txBox="1"/>
          <p:nvPr/>
        </p:nvSpPr>
        <p:spPr>
          <a:xfrm>
            <a:off x="5638800" y="517549"/>
            <a:ext cx="5842630" cy="1072601"/>
          </a:xfrm>
          <a:prstGeom prst="rect">
            <a:avLst/>
          </a:prstGeom>
        </p:spPr>
        <p:txBody>
          <a:bodyPr wrap="square" lIns="0" tIns="0" rIns="0" bIns="0" rtlCol="0" anchor="t">
            <a:spAutoFit/>
          </a:bodyPr>
          <a:lstStyle/>
          <a:p>
            <a:pPr algn="ctr">
              <a:lnSpc>
                <a:spcPts val="8820"/>
              </a:lnSpc>
            </a:pPr>
            <a:r>
              <a:rPr lang="en-US" sz="6300" b="1" dirty="0">
                <a:solidFill>
                  <a:srgbClr val="FFFFFF"/>
                </a:solidFill>
                <a:latin typeface="Poppins Bold"/>
                <a:ea typeface="Poppins Bold"/>
                <a:cs typeface="Poppins Bold"/>
                <a:sym typeface="Poppins Bold"/>
              </a:rPr>
              <a:t>Youth 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2060943" y="2464881"/>
            <a:ext cx="5475081" cy="6288679"/>
          </a:xfrm>
          <a:custGeom>
            <a:avLst/>
            <a:gdLst/>
            <a:ahLst/>
            <a:cxnLst/>
            <a:rect l="l" t="t" r="r" b="b"/>
            <a:pathLst>
              <a:path w="5475081" h="6288679">
                <a:moveTo>
                  <a:pt x="0" y="0"/>
                </a:moveTo>
                <a:lnTo>
                  <a:pt x="5475081" y="0"/>
                </a:lnTo>
                <a:lnTo>
                  <a:pt x="5475081" y="6288678"/>
                </a:lnTo>
                <a:lnTo>
                  <a:pt x="0" y="6288678"/>
                </a:lnTo>
                <a:lnTo>
                  <a:pt x="0" y="0"/>
                </a:lnTo>
                <a:close/>
              </a:path>
            </a:pathLst>
          </a:custGeom>
          <a:blipFill>
            <a:blip r:embed="rId4"/>
            <a:stretch>
              <a:fillRect/>
            </a:stretch>
          </a:blipFill>
        </p:spPr>
        <p:txBody>
          <a:bodyPr/>
          <a:lstStyle/>
          <a:p>
            <a:endParaRPr lang="en-GB"/>
          </a:p>
        </p:txBody>
      </p:sp>
      <p:sp>
        <p:nvSpPr>
          <p:cNvPr id="5" name="Freeform 5"/>
          <p:cNvSpPr/>
          <p:nvPr/>
        </p:nvSpPr>
        <p:spPr>
          <a:xfrm>
            <a:off x="10393945" y="2464881"/>
            <a:ext cx="5192076" cy="5300301"/>
          </a:xfrm>
          <a:custGeom>
            <a:avLst/>
            <a:gdLst/>
            <a:ahLst/>
            <a:cxnLst/>
            <a:rect l="l" t="t" r="r" b="b"/>
            <a:pathLst>
              <a:path w="5192076" h="5300301">
                <a:moveTo>
                  <a:pt x="0" y="0"/>
                </a:moveTo>
                <a:lnTo>
                  <a:pt x="5192076" y="0"/>
                </a:lnTo>
                <a:lnTo>
                  <a:pt x="5192076" y="5300301"/>
                </a:lnTo>
                <a:lnTo>
                  <a:pt x="0" y="5300301"/>
                </a:lnTo>
                <a:lnTo>
                  <a:pt x="0" y="0"/>
                </a:lnTo>
                <a:close/>
              </a:path>
            </a:pathLst>
          </a:custGeom>
          <a:blipFill>
            <a:blip r:embed="rId5"/>
            <a:stretch>
              <a:fillRect l="-2084"/>
            </a:stretch>
          </a:blipFill>
        </p:spPr>
        <p:txBody>
          <a:bodyPr/>
          <a:lstStyle/>
          <a:p>
            <a:endParaRPr lang="en-GB"/>
          </a:p>
        </p:txBody>
      </p:sp>
      <p:sp>
        <p:nvSpPr>
          <p:cNvPr id="6" name="TextBox 6"/>
          <p:cNvSpPr txBox="1"/>
          <p:nvPr/>
        </p:nvSpPr>
        <p:spPr>
          <a:xfrm>
            <a:off x="3657867" y="405204"/>
            <a:ext cx="10202168" cy="1125843"/>
          </a:xfrm>
          <a:prstGeom prst="rect">
            <a:avLst/>
          </a:prstGeom>
        </p:spPr>
        <p:txBody>
          <a:bodyPr lIns="0" tIns="0" rIns="0" bIns="0" rtlCol="0" anchor="t">
            <a:spAutoFit/>
          </a:bodyPr>
          <a:lstStyle/>
          <a:p>
            <a:pPr algn="ctr">
              <a:lnSpc>
                <a:spcPts val="8820"/>
              </a:lnSpc>
            </a:pPr>
            <a:r>
              <a:rPr lang="en-US" sz="6300" b="1">
                <a:solidFill>
                  <a:srgbClr val="FFFFFF"/>
                </a:solidFill>
                <a:latin typeface="Poppins Bold"/>
                <a:ea typeface="Poppins Bold"/>
                <a:cs typeface="Poppins Bold"/>
                <a:sym typeface="Poppins Bold"/>
              </a:rPr>
              <a:t>Keep updated with BCYC</a:t>
            </a:r>
          </a:p>
        </p:txBody>
      </p:sp>
      <p:sp>
        <p:nvSpPr>
          <p:cNvPr id="7" name="Freeform 7"/>
          <p:cNvSpPr/>
          <p:nvPr/>
        </p:nvSpPr>
        <p:spPr>
          <a:xfrm>
            <a:off x="10393945" y="7907034"/>
            <a:ext cx="5192076" cy="846525"/>
          </a:xfrm>
          <a:custGeom>
            <a:avLst/>
            <a:gdLst/>
            <a:ahLst/>
            <a:cxnLst/>
            <a:rect l="l" t="t" r="r" b="b"/>
            <a:pathLst>
              <a:path w="5192076" h="846525">
                <a:moveTo>
                  <a:pt x="0" y="0"/>
                </a:moveTo>
                <a:lnTo>
                  <a:pt x="5192076" y="0"/>
                </a:lnTo>
                <a:lnTo>
                  <a:pt x="5192076" y="846525"/>
                </a:lnTo>
                <a:lnTo>
                  <a:pt x="0" y="846525"/>
                </a:lnTo>
                <a:lnTo>
                  <a:pt x="0" y="0"/>
                </a:lnTo>
                <a:close/>
              </a:path>
            </a:pathLst>
          </a:custGeom>
          <a:blipFill>
            <a:blip r:embed="rId6"/>
            <a:stretch>
              <a:fillRect l="-44788" t="-501993" r="-151397" b="-197321"/>
            </a:stretch>
          </a:blipFill>
        </p:spPr>
        <p:txBody>
          <a:bodyPr/>
          <a:lstStyle/>
          <a:p>
            <a:endParaRPr lang="en-GB"/>
          </a:p>
        </p:txBody>
      </p:sp>
      <p:sp>
        <p:nvSpPr>
          <p:cNvPr id="8" name="TextBox 8"/>
          <p:cNvSpPr txBox="1"/>
          <p:nvPr/>
        </p:nvSpPr>
        <p:spPr>
          <a:xfrm>
            <a:off x="7918526" y="7983234"/>
            <a:ext cx="10142914" cy="1351266"/>
          </a:xfrm>
          <a:prstGeom prst="rect">
            <a:avLst/>
          </a:prstGeom>
        </p:spPr>
        <p:txBody>
          <a:bodyPr lIns="0" tIns="0" rIns="0" bIns="0" rtlCol="0" anchor="t">
            <a:spAutoFit/>
          </a:bodyPr>
          <a:lstStyle/>
          <a:p>
            <a:pPr algn="ctr">
              <a:lnSpc>
                <a:spcPts val="5320"/>
              </a:lnSpc>
            </a:pPr>
            <a:r>
              <a:rPr lang="en-US" sz="3800" b="1" dirty="0">
                <a:solidFill>
                  <a:srgbClr val="000000"/>
                </a:solidFill>
                <a:latin typeface="Poppins Bold"/>
                <a:ea typeface="Poppins Bold"/>
                <a:cs typeface="Poppins Bold"/>
                <a:sym typeface="Poppins Bold"/>
              </a:rPr>
              <a:t>LinkedIn</a:t>
            </a:r>
          </a:p>
          <a:p>
            <a:pPr algn="ctr">
              <a:lnSpc>
                <a:spcPts val="5320"/>
              </a:lnSpc>
              <a:spcBef>
                <a:spcPct val="0"/>
              </a:spcBef>
            </a:pPr>
            <a:endParaRPr lang="en-US" sz="3800" b="1" dirty="0">
              <a:solidFill>
                <a:srgbClr val="000000"/>
              </a:solidFill>
              <a:latin typeface="Poppins Bold"/>
              <a:ea typeface="Poppins Bold"/>
              <a:cs typeface="Poppins Bold"/>
              <a:sym typeface="Poppins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1294773" y="2107700"/>
            <a:ext cx="5202515" cy="7359879"/>
          </a:xfrm>
          <a:custGeom>
            <a:avLst/>
            <a:gdLst/>
            <a:ahLst/>
            <a:cxnLst/>
            <a:rect l="l" t="t" r="r" b="b"/>
            <a:pathLst>
              <a:path w="5202515" h="7359879">
                <a:moveTo>
                  <a:pt x="0" y="0"/>
                </a:moveTo>
                <a:lnTo>
                  <a:pt x="5202515" y="0"/>
                </a:lnTo>
                <a:lnTo>
                  <a:pt x="5202515" y="7359880"/>
                </a:lnTo>
                <a:lnTo>
                  <a:pt x="0" y="7359880"/>
                </a:lnTo>
                <a:lnTo>
                  <a:pt x="0" y="0"/>
                </a:lnTo>
                <a:close/>
              </a:path>
            </a:pathLst>
          </a:custGeom>
          <a:blipFill>
            <a:blip r:embed="rId4"/>
            <a:stretch>
              <a:fillRect/>
            </a:stretch>
          </a:blipFill>
        </p:spPr>
        <p:txBody>
          <a:bodyPr/>
          <a:lstStyle/>
          <a:p>
            <a:endParaRPr lang="en-GB"/>
          </a:p>
        </p:txBody>
      </p:sp>
      <p:sp>
        <p:nvSpPr>
          <p:cNvPr id="5" name="Freeform 5"/>
          <p:cNvSpPr/>
          <p:nvPr/>
        </p:nvSpPr>
        <p:spPr>
          <a:xfrm>
            <a:off x="7194700" y="2107700"/>
            <a:ext cx="9798527" cy="3264134"/>
          </a:xfrm>
          <a:custGeom>
            <a:avLst/>
            <a:gdLst/>
            <a:ahLst/>
            <a:cxnLst/>
            <a:rect l="l" t="t" r="r" b="b"/>
            <a:pathLst>
              <a:path w="9798527" h="3264134">
                <a:moveTo>
                  <a:pt x="0" y="0"/>
                </a:moveTo>
                <a:lnTo>
                  <a:pt x="9798527" y="0"/>
                </a:lnTo>
                <a:lnTo>
                  <a:pt x="9798527" y="3264135"/>
                </a:lnTo>
                <a:lnTo>
                  <a:pt x="0" y="3264135"/>
                </a:lnTo>
                <a:lnTo>
                  <a:pt x="0" y="0"/>
                </a:lnTo>
                <a:close/>
              </a:path>
            </a:pathLst>
          </a:custGeom>
          <a:blipFill>
            <a:blip r:embed="rId5"/>
            <a:stretch>
              <a:fillRect/>
            </a:stretch>
          </a:blipFill>
        </p:spPr>
        <p:txBody>
          <a:bodyPr/>
          <a:lstStyle/>
          <a:p>
            <a:endParaRPr lang="en-GB"/>
          </a:p>
        </p:txBody>
      </p:sp>
      <p:sp>
        <p:nvSpPr>
          <p:cNvPr id="6" name="Freeform 6"/>
          <p:cNvSpPr/>
          <p:nvPr/>
        </p:nvSpPr>
        <p:spPr>
          <a:xfrm>
            <a:off x="7194700" y="5361805"/>
            <a:ext cx="9798527" cy="4105775"/>
          </a:xfrm>
          <a:custGeom>
            <a:avLst/>
            <a:gdLst/>
            <a:ahLst/>
            <a:cxnLst/>
            <a:rect l="l" t="t" r="r" b="b"/>
            <a:pathLst>
              <a:path w="9798527" h="4105775">
                <a:moveTo>
                  <a:pt x="0" y="0"/>
                </a:moveTo>
                <a:lnTo>
                  <a:pt x="9798527" y="0"/>
                </a:lnTo>
                <a:lnTo>
                  <a:pt x="9798527" y="4105775"/>
                </a:lnTo>
                <a:lnTo>
                  <a:pt x="0" y="4105775"/>
                </a:lnTo>
                <a:lnTo>
                  <a:pt x="0" y="0"/>
                </a:lnTo>
                <a:close/>
              </a:path>
            </a:pathLst>
          </a:custGeom>
          <a:blipFill>
            <a:blip r:embed="rId6"/>
            <a:stretch>
              <a:fillRect t="-133001" b="-65313"/>
            </a:stretch>
          </a:blipFill>
        </p:spPr>
        <p:txBody>
          <a:bodyPr/>
          <a:lstStyle/>
          <a:p>
            <a:endParaRPr lang="en-GB"/>
          </a:p>
        </p:txBody>
      </p:sp>
      <p:sp>
        <p:nvSpPr>
          <p:cNvPr id="7" name="TextBox 7"/>
          <p:cNvSpPr txBox="1"/>
          <p:nvPr/>
        </p:nvSpPr>
        <p:spPr>
          <a:xfrm>
            <a:off x="2209800" y="389646"/>
            <a:ext cx="13194655" cy="1072601"/>
          </a:xfrm>
          <a:prstGeom prst="rect">
            <a:avLst/>
          </a:prstGeom>
        </p:spPr>
        <p:txBody>
          <a:bodyPr wrap="square" lIns="0" tIns="0" rIns="0" bIns="0" rtlCol="0" anchor="t">
            <a:spAutoFit/>
          </a:bodyPr>
          <a:lstStyle/>
          <a:p>
            <a:pPr algn="ctr">
              <a:lnSpc>
                <a:spcPts val="8820"/>
              </a:lnSpc>
            </a:pPr>
            <a:r>
              <a:rPr lang="en-US" sz="6300" b="1" dirty="0">
                <a:solidFill>
                  <a:srgbClr val="FFFFFF"/>
                </a:solidFill>
                <a:latin typeface="Poppins Bold"/>
                <a:ea typeface="Poppins Bold"/>
                <a:cs typeface="Poppins Bold"/>
                <a:sym typeface="Poppins Bold"/>
              </a:rPr>
              <a:t>Youth Voice Conference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755D"/>
        </a:solidFill>
        <a:effectLst/>
      </p:bgPr>
    </p:bg>
    <p:spTree>
      <p:nvGrpSpPr>
        <p:cNvPr id="1" name=""/>
        <p:cNvGrpSpPr/>
        <p:nvPr/>
      </p:nvGrpSpPr>
      <p:grpSpPr>
        <a:xfrm>
          <a:off x="0" y="0"/>
          <a:ext cx="0" cy="0"/>
          <a:chOff x="0" y="0"/>
          <a:chExt cx="0" cy="0"/>
        </a:xfrm>
      </p:grpSpPr>
      <p:sp>
        <p:nvSpPr>
          <p:cNvPr id="2" name="Freeform 2"/>
          <p:cNvSpPr/>
          <p:nvPr/>
        </p:nvSpPr>
        <p:spPr>
          <a:xfrm>
            <a:off x="16196961" y="0"/>
            <a:ext cx="2091039" cy="2107700"/>
          </a:xfrm>
          <a:custGeom>
            <a:avLst/>
            <a:gdLst/>
            <a:ahLst/>
            <a:cxnLst/>
            <a:rect l="l" t="t" r="r" b="b"/>
            <a:pathLst>
              <a:path w="2091039" h="2107700">
                <a:moveTo>
                  <a:pt x="0" y="0"/>
                </a:moveTo>
                <a:lnTo>
                  <a:pt x="2091039" y="0"/>
                </a:lnTo>
                <a:lnTo>
                  <a:pt x="2091039" y="2107700"/>
                </a:lnTo>
                <a:lnTo>
                  <a:pt x="0" y="2107700"/>
                </a:lnTo>
                <a:lnTo>
                  <a:pt x="0" y="0"/>
                </a:lnTo>
                <a:close/>
              </a:path>
            </a:pathLst>
          </a:custGeom>
          <a:blipFill>
            <a:blip r:embed="rId2"/>
            <a:stretch>
              <a:fillRect/>
            </a:stretch>
          </a:blipFill>
        </p:spPr>
        <p:txBody>
          <a:bodyPr/>
          <a:lstStyle/>
          <a:p>
            <a:endParaRPr lang="en-GB"/>
          </a:p>
        </p:txBody>
      </p:sp>
      <p:sp>
        <p:nvSpPr>
          <p:cNvPr id="3" name="Freeform 3"/>
          <p:cNvSpPr/>
          <p:nvPr/>
        </p:nvSpPr>
        <p:spPr>
          <a:xfrm>
            <a:off x="13344209" y="5143500"/>
            <a:ext cx="7830182" cy="7830182"/>
          </a:xfrm>
          <a:custGeom>
            <a:avLst/>
            <a:gdLst/>
            <a:ahLst/>
            <a:cxnLst/>
            <a:rect l="l" t="t" r="r" b="b"/>
            <a:pathLst>
              <a:path w="7830182" h="7830182">
                <a:moveTo>
                  <a:pt x="0" y="0"/>
                </a:moveTo>
                <a:lnTo>
                  <a:pt x="7830182" y="0"/>
                </a:lnTo>
                <a:lnTo>
                  <a:pt x="7830182" y="7830182"/>
                </a:lnTo>
                <a:lnTo>
                  <a:pt x="0" y="7830182"/>
                </a:lnTo>
                <a:lnTo>
                  <a:pt x="0" y="0"/>
                </a:lnTo>
                <a:close/>
              </a:path>
            </a:pathLst>
          </a:custGeom>
          <a:blipFill>
            <a:blip>
              <a:alphaModFix amt="59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TextBox 4"/>
          <p:cNvSpPr txBox="1"/>
          <p:nvPr/>
        </p:nvSpPr>
        <p:spPr>
          <a:xfrm>
            <a:off x="2946053" y="506815"/>
            <a:ext cx="12395895" cy="1362064"/>
          </a:xfrm>
          <a:prstGeom prst="rect">
            <a:avLst/>
          </a:prstGeom>
        </p:spPr>
        <p:txBody>
          <a:bodyPr lIns="0" tIns="0" rIns="0" bIns="0" rtlCol="0" anchor="t">
            <a:spAutoFit/>
          </a:bodyPr>
          <a:lstStyle/>
          <a:p>
            <a:pPr algn="ctr">
              <a:lnSpc>
                <a:spcPts val="10500"/>
              </a:lnSpc>
            </a:pPr>
            <a:r>
              <a:rPr lang="en-US" sz="7500" b="1">
                <a:solidFill>
                  <a:srgbClr val="FFFFFF"/>
                </a:solidFill>
                <a:latin typeface="Poppins Bold"/>
                <a:ea typeface="Poppins Bold"/>
                <a:cs typeface="Poppins Bold"/>
                <a:sym typeface="Poppins Bold"/>
              </a:rPr>
              <a:t>What are you guys up to?</a:t>
            </a:r>
          </a:p>
        </p:txBody>
      </p:sp>
      <p:sp>
        <p:nvSpPr>
          <p:cNvPr id="5" name="Freeform 5"/>
          <p:cNvSpPr/>
          <p:nvPr/>
        </p:nvSpPr>
        <p:spPr>
          <a:xfrm>
            <a:off x="1011881" y="2898819"/>
            <a:ext cx="16230600" cy="6359481"/>
          </a:xfrm>
          <a:custGeom>
            <a:avLst/>
            <a:gdLst/>
            <a:ahLst/>
            <a:cxnLst/>
            <a:rect l="l" t="t" r="r" b="b"/>
            <a:pathLst>
              <a:path w="16230600" h="6359481">
                <a:moveTo>
                  <a:pt x="0" y="0"/>
                </a:moveTo>
                <a:lnTo>
                  <a:pt x="16230600" y="0"/>
                </a:lnTo>
                <a:lnTo>
                  <a:pt x="16230600" y="6359481"/>
                </a:lnTo>
                <a:lnTo>
                  <a:pt x="0" y="6359481"/>
                </a:lnTo>
                <a:lnTo>
                  <a:pt x="0" y="0"/>
                </a:lnTo>
                <a:close/>
              </a:path>
            </a:pathLst>
          </a:custGeom>
          <a:blipFill>
            <a:blip r:embed="rId4"/>
            <a:stretch>
              <a:fillRect l="-37410" t="-96316" r="-37410"/>
            </a:stretch>
          </a:blipFill>
        </p:spPr>
        <p:txBody>
          <a:bodyPr/>
          <a:lstStyle/>
          <a:p>
            <a:endParaRPr lang="en-GB"/>
          </a:p>
        </p:txBody>
      </p:sp>
      <p:sp>
        <p:nvSpPr>
          <p:cNvPr id="6" name="TextBox 6"/>
          <p:cNvSpPr txBox="1"/>
          <p:nvPr/>
        </p:nvSpPr>
        <p:spPr>
          <a:xfrm>
            <a:off x="1028700" y="3004833"/>
            <a:ext cx="16213781" cy="6101067"/>
          </a:xfrm>
          <a:prstGeom prst="rect">
            <a:avLst/>
          </a:prstGeom>
        </p:spPr>
        <p:txBody>
          <a:bodyPr lIns="0" tIns="0" rIns="0" bIns="0" rtlCol="0" anchor="t">
            <a:spAutoFit/>
          </a:bodyPr>
          <a:lstStyle/>
          <a:p>
            <a:pPr algn="ctr">
              <a:lnSpc>
                <a:spcPts val="6020"/>
              </a:lnSpc>
            </a:pPr>
            <a:r>
              <a:rPr lang="en-US" sz="4300" b="1" dirty="0">
                <a:solidFill>
                  <a:srgbClr val="000000"/>
                </a:solidFill>
                <a:latin typeface="Poppins Bold"/>
                <a:ea typeface="Poppins Bold"/>
                <a:cs typeface="Poppins Bold"/>
                <a:sym typeface="Poppins Bold"/>
              </a:rPr>
              <a:t>Round Table Discussion:</a:t>
            </a:r>
          </a:p>
          <a:p>
            <a:pPr algn="ctr">
              <a:lnSpc>
                <a:spcPts val="6020"/>
              </a:lnSpc>
              <a:spcBef>
                <a:spcPct val="0"/>
              </a:spcBef>
            </a:pPr>
            <a:r>
              <a:rPr lang="en-US" sz="4300" dirty="0">
                <a:solidFill>
                  <a:srgbClr val="000000"/>
                </a:solidFill>
                <a:latin typeface="Poppins"/>
                <a:ea typeface="Poppins"/>
                <a:cs typeface="Poppins"/>
                <a:sym typeface="Poppins"/>
              </a:rPr>
              <a:t>What issues are important to the young people you’re working with? </a:t>
            </a:r>
          </a:p>
          <a:p>
            <a:pPr algn="ctr">
              <a:lnSpc>
                <a:spcPts val="6020"/>
              </a:lnSpc>
              <a:spcBef>
                <a:spcPct val="0"/>
              </a:spcBef>
            </a:pPr>
            <a:endParaRPr lang="en-US" sz="4300" dirty="0">
              <a:solidFill>
                <a:srgbClr val="000000"/>
              </a:solidFill>
              <a:latin typeface="Poppins"/>
              <a:ea typeface="Poppins"/>
              <a:cs typeface="Poppins"/>
              <a:sym typeface="Poppins"/>
            </a:endParaRPr>
          </a:p>
          <a:p>
            <a:pPr algn="ctr">
              <a:lnSpc>
                <a:spcPts val="6020"/>
              </a:lnSpc>
              <a:spcBef>
                <a:spcPct val="0"/>
              </a:spcBef>
            </a:pPr>
            <a:r>
              <a:rPr lang="en-US" sz="4300" dirty="0">
                <a:solidFill>
                  <a:srgbClr val="000000"/>
                </a:solidFill>
                <a:latin typeface="Poppins"/>
                <a:ea typeface="Poppins"/>
                <a:cs typeface="Poppins"/>
                <a:sym typeface="Poppins"/>
              </a:rPr>
              <a:t>What projects are you working on related to those issues/what young people have highlighted?</a:t>
            </a:r>
          </a:p>
          <a:p>
            <a:pPr algn="ctr">
              <a:lnSpc>
                <a:spcPts val="6020"/>
              </a:lnSpc>
              <a:spcBef>
                <a:spcPct val="0"/>
              </a:spcBef>
            </a:pPr>
            <a:endParaRPr lang="en-US" sz="4300" dirty="0">
              <a:solidFill>
                <a:srgbClr val="000000"/>
              </a:solidFill>
              <a:latin typeface="Poppins"/>
              <a:ea typeface="Poppins"/>
              <a:cs typeface="Poppins"/>
              <a:sym typeface="Poppins"/>
            </a:endParaRPr>
          </a:p>
          <a:p>
            <a:pPr algn="ctr">
              <a:lnSpc>
                <a:spcPts val="6020"/>
              </a:lnSpc>
              <a:spcBef>
                <a:spcPct val="0"/>
              </a:spcBef>
            </a:pPr>
            <a:r>
              <a:rPr lang="en-US" sz="4300" dirty="0">
                <a:solidFill>
                  <a:srgbClr val="000000"/>
                </a:solidFill>
                <a:latin typeface="Poppins"/>
                <a:ea typeface="Poppins"/>
                <a:cs typeface="Poppins"/>
                <a:sym typeface="Poppins"/>
              </a:rPr>
              <a:t>Are there common themes across Bristol?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C51614C82C0D4F90D58087B60FA09D" ma:contentTypeVersion="19" ma:contentTypeDescription="Create a new document." ma:contentTypeScope="" ma:versionID="2b6f29a36a2b5f619681858377123d48">
  <xsd:schema xmlns:xsd="http://www.w3.org/2001/XMLSchema" xmlns:xs="http://www.w3.org/2001/XMLSchema" xmlns:p="http://schemas.microsoft.com/office/2006/metadata/properties" xmlns:ns2="983433f7-b213-48bc-9802-dbdffd0430da" xmlns:ns3="d5210555-1c98-41f9-9dbf-0adcdf671b20" targetNamespace="http://schemas.microsoft.com/office/2006/metadata/properties" ma:root="true" ma:fieldsID="203a9e7a5069190351a49322b247ed29" ns2:_="" ns3:_="">
    <xsd:import namespace="983433f7-b213-48bc-9802-dbdffd0430da"/>
    <xsd:import namespace="d5210555-1c98-41f9-9dbf-0adcdf671b2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3433f7-b213-48bc-9802-dbdffd0430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cf50c9d-bc8f-48ed-ba3c-7168a5cdc8d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210555-1c98-41f9-9dbf-0adcdf671b2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f254f8f-535b-4ad1-af67-751e66a029ea}" ma:internalName="TaxCatchAll" ma:showField="CatchAllData" ma:web="d5210555-1c98-41f9-9dbf-0adcdf671b2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5210555-1c98-41f9-9dbf-0adcdf671b20" xsi:nil="true"/>
    <lcf76f155ced4ddcb4097134ff3c332f xmlns="983433f7-b213-48bc-9802-dbdffd0430d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8AAD709-81D0-4729-BF38-40E0FBC923DC}"/>
</file>

<file path=customXml/itemProps2.xml><?xml version="1.0" encoding="utf-8"?>
<ds:datastoreItem xmlns:ds="http://schemas.openxmlformats.org/officeDocument/2006/customXml" ds:itemID="{E8BEB8B4-5E47-4037-9FEB-CDDB1ABBFC17}"/>
</file>

<file path=customXml/itemProps3.xml><?xml version="1.0" encoding="utf-8"?>
<ds:datastoreItem xmlns:ds="http://schemas.openxmlformats.org/officeDocument/2006/customXml" ds:itemID="{B3D6966C-5823-4F79-ADD8-934620D5903C}"/>
</file>

<file path=docProps/app.xml><?xml version="1.0" encoding="utf-8"?>
<Properties xmlns="http://schemas.openxmlformats.org/officeDocument/2006/extended-properties" xmlns:vt="http://schemas.openxmlformats.org/officeDocument/2006/docPropsVTypes">
  <TotalTime>69</TotalTime>
  <Words>769</Words>
  <Application>Microsoft Office PowerPoint</Application>
  <PresentationFormat>Custom</PresentationFormat>
  <Paragraphs>78</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Poppins Bold</vt:lpstr>
      <vt:lpstr>Rubik Vinyl</vt:lpstr>
      <vt:lpstr>Bernoru</vt: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BYVN Conference</dc:title>
  <cp:lastModifiedBy>Mark Lee</cp:lastModifiedBy>
  <cp:revision>3</cp:revision>
  <dcterms:created xsi:type="dcterms:W3CDTF">2006-08-16T00:00:00Z</dcterms:created>
  <dcterms:modified xsi:type="dcterms:W3CDTF">2026-10-05T16:25:55Z</dcterms:modified>
  <dc:identifier>DAHW3MN_Ies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9fc0e63-07aa-4a42-9f0d-00e32f43700c_Enabled">
    <vt:lpwstr>true</vt:lpwstr>
  </property>
  <property fmtid="{D5CDD505-2E9C-101B-9397-08002B2CF9AE}" pid="3" name="MSIP_Label_e9fc0e63-07aa-4a42-9f0d-00e32f43700c_SetDate">
    <vt:lpwstr>2026-10-05T14:59:13Z</vt:lpwstr>
  </property>
  <property fmtid="{D5CDD505-2E9C-101B-9397-08002B2CF9AE}" pid="4" name="MSIP_Label_e9fc0e63-07aa-4a42-9f0d-00e32f43700c_Method">
    <vt:lpwstr>Standard</vt:lpwstr>
  </property>
  <property fmtid="{D5CDD505-2E9C-101B-9397-08002B2CF9AE}" pid="5" name="MSIP_Label_e9fc0e63-07aa-4a42-9f0d-00e32f43700c_Name">
    <vt:lpwstr>OFFICIAL - Internal</vt:lpwstr>
  </property>
  <property fmtid="{D5CDD505-2E9C-101B-9397-08002B2CF9AE}" pid="6" name="MSIP_Label_e9fc0e63-07aa-4a42-9f0d-00e32f43700c_SiteId">
    <vt:lpwstr>6378a7a5-0f21-4482-aee0-897eb7de331f</vt:lpwstr>
  </property>
  <property fmtid="{D5CDD505-2E9C-101B-9397-08002B2CF9AE}" pid="7" name="MSIP_Label_e9fc0e63-07aa-4a42-9f0d-00e32f43700c_ActionId">
    <vt:lpwstr>a8bc9804-5ca3-48db-91dd-cc7fd75f3663</vt:lpwstr>
  </property>
  <property fmtid="{D5CDD505-2E9C-101B-9397-08002B2CF9AE}" pid="8" name="MSIP_Label_e9fc0e63-07aa-4a42-9f0d-00e32f43700c_ContentBits">
    <vt:lpwstr>2</vt:lpwstr>
  </property>
  <property fmtid="{D5CDD505-2E9C-101B-9397-08002B2CF9AE}" pid="9" name="MSIP_Label_e9fc0e63-07aa-4a42-9f0d-00e32f43700c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OFFICIAL</vt:lpwstr>
  </property>
  <property fmtid="{D5CDD505-2E9C-101B-9397-08002B2CF9AE}" pid="12" name="ContentTypeId">
    <vt:lpwstr>0x0101002EC51614C82C0D4F90D58087B60FA09D</vt:lpwstr>
  </property>
  <property fmtid="{D5CDD505-2E9C-101B-9397-08002B2CF9AE}" pid="13" name="MediaServiceImageTags">
    <vt:lpwstr/>
  </property>
</Properties>
</file>