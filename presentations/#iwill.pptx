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256" r:id="rId2"/>
    <p:sldId id="257" r:id="rId3"/>
    <p:sldId id="258" r:id="rId4"/>
    <p:sldId id="259" r:id="rId5"/>
    <p:sldId id="260" r:id="rId6"/>
  </p:sldIdLst>
  <p:sldSz cx="18288000" cy="10287000"/>
  <p:notesSz cx="6858000" cy="9144000"/>
  <p:embeddedFontLst>
    <p:embeddedFont>
      <p:font typeface="Barlow Condensed" panose="00000506000000000000" pitchFamily="2" charset="0"/>
      <p:regular r:id="rId8"/>
    </p:embeddedFont>
    <p:embeddedFont>
      <p:font typeface="Barlow Condensed Bold Bold" panose="020B0604020202020204" charset="0"/>
      <p:regular r:id="rId9"/>
    </p:embeddedFont>
    <p:embeddedFont>
      <p:font typeface="PT Sans 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244"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upon our learning- from deep dive research, to conversation, observation and reflection- these core elements underpin our understanding of transformative youth-led place-based change: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Young people, all across the country, are making change in their communities. As the #iWill Movement, we know that the power of place is connected to the power of youth. We’ve seen it happen. </a:t>
            </a:r>
          </a:p>
          <a:p>
            <a:endParaRPr lang="en-US"/>
          </a:p>
          <a:p>
            <a:r>
              <a:rPr lang="en-US"/>
              <a:t>For a city, a town, a village, a place to really thrive, it needs to understand the things that matter to local young people.</a:t>
            </a:r>
          </a:p>
          <a:p>
            <a:endParaRPr lang="en-US"/>
          </a:p>
          <a:p>
            <a:r>
              <a:rPr lang="en-US"/>
              <a:t>Becoming a Place of Social Action is more than a project. It is about shifting from adult-led systems to youth-led change by embedding young voices and youth social action at the heart of how cities, towns and communities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4.jpe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61235" y="-106065"/>
            <a:ext cx="13150681" cy="9258300"/>
          </a:xfrm>
          <a:custGeom>
            <a:avLst/>
            <a:gdLst/>
            <a:ahLst/>
            <a:cxnLst/>
            <a:rect l="l" t="t" r="r" b="b"/>
            <a:pathLst>
              <a:path w="13150681" h="9258300">
                <a:moveTo>
                  <a:pt x="0" y="0"/>
                </a:moveTo>
                <a:lnTo>
                  <a:pt x="13150681" y="0"/>
                </a:lnTo>
                <a:lnTo>
                  <a:pt x="13150681" y="9258300"/>
                </a:lnTo>
                <a:lnTo>
                  <a:pt x="0" y="9258300"/>
                </a:lnTo>
                <a:lnTo>
                  <a:pt x="0" y="0"/>
                </a:lnTo>
                <a:close/>
              </a:path>
            </a:pathLst>
          </a:custGeom>
          <a:blipFill>
            <a:blip r:embed="rId2"/>
            <a:stretch>
              <a:fillRect l="-1795" t="-4192" b="-4192"/>
            </a:stretch>
          </a:blipFill>
        </p:spPr>
        <p:txBody>
          <a:bodyPr/>
          <a:lstStyle/>
          <a:p>
            <a:endParaRPr lang="en-GB"/>
          </a:p>
        </p:txBody>
      </p:sp>
      <p:grpSp>
        <p:nvGrpSpPr>
          <p:cNvPr id="3" name="Group 3"/>
          <p:cNvGrpSpPr/>
          <p:nvPr/>
        </p:nvGrpSpPr>
        <p:grpSpPr>
          <a:xfrm>
            <a:off x="10855919" y="7497507"/>
            <a:ext cx="6601411" cy="1025400"/>
            <a:chOff x="0" y="0"/>
            <a:chExt cx="1738643" cy="270064"/>
          </a:xfrm>
        </p:grpSpPr>
        <p:sp>
          <p:nvSpPr>
            <p:cNvPr id="4" name="Freeform 4"/>
            <p:cNvSpPr/>
            <p:nvPr/>
          </p:nvSpPr>
          <p:spPr>
            <a:xfrm>
              <a:off x="0" y="0"/>
              <a:ext cx="1738643" cy="270064"/>
            </a:xfrm>
            <a:custGeom>
              <a:avLst/>
              <a:gdLst/>
              <a:ahLst/>
              <a:cxnLst/>
              <a:rect l="l" t="t" r="r" b="b"/>
              <a:pathLst>
                <a:path w="1738643" h="270064">
                  <a:moveTo>
                    <a:pt x="0" y="0"/>
                  </a:moveTo>
                  <a:lnTo>
                    <a:pt x="1738643" y="0"/>
                  </a:lnTo>
                  <a:lnTo>
                    <a:pt x="1738643" y="270064"/>
                  </a:lnTo>
                  <a:lnTo>
                    <a:pt x="0" y="270064"/>
                  </a:lnTo>
                  <a:close/>
                </a:path>
              </a:pathLst>
            </a:custGeom>
            <a:solidFill>
              <a:srgbClr val="2B2E34">
                <a:alpha val="40784"/>
              </a:srgbClr>
            </a:solidFill>
          </p:spPr>
          <p:txBody>
            <a:bodyPr/>
            <a:lstStyle/>
            <a:p>
              <a:endParaRPr lang="en-GB"/>
            </a:p>
          </p:txBody>
        </p:sp>
        <p:sp>
          <p:nvSpPr>
            <p:cNvPr id="5" name="TextBox 5"/>
            <p:cNvSpPr txBox="1"/>
            <p:nvPr/>
          </p:nvSpPr>
          <p:spPr>
            <a:xfrm>
              <a:off x="0" y="-47625"/>
              <a:ext cx="1738643" cy="317689"/>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7175583" cy="10287000"/>
            <a:chOff x="0" y="0"/>
            <a:chExt cx="1889865" cy="2709333"/>
          </a:xfrm>
        </p:grpSpPr>
        <p:sp>
          <p:nvSpPr>
            <p:cNvPr id="7" name="Freeform 7"/>
            <p:cNvSpPr/>
            <p:nvPr/>
          </p:nvSpPr>
          <p:spPr>
            <a:xfrm>
              <a:off x="0" y="0"/>
              <a:ext cx="1889865" cy="2709333"/>
            </a:xfrm>
            <a:custGeom>
              <a:avLst/>
              <a:gdLst/>
              <a:ahLst/>
              <a:cxnLst/>
              <a:rect l="l" t="t" r="r" b="b"/>
              <a:pathLst>
                <a:path w="1889865" h="2709333">
                  <a:moveTo>
                    <a:pt x="0" y="0"/>
                  </a:moveTo>
                  <a:lnTo>
                    <a:pt x="1889865" y="0"/>
                  </a:lnTo>
                  <a:lnTo>
                    <a:pt x="1889865" y="2709333"/>
                  </a:lnTo>
                  <a:lnTo>
                    <a:pt x="0" y="2709333"/>
                  </a:lnTo>
                  <a:close/>
                </a:path>
              </a:pathLst>
            </a:custGeom>
            <a:solidFill>
              <a:srgbClr val="FAC204"/>
            </a:solidFill>
          </p:spPr>
          <p:txBody>
            <a:bodyPr/>
            <a:lstStyle/>
            <a:p>
              <a:endParaRPr lang="en-GB"/>
            </a:p>
          </p:txBody>
        </p:sp>
        <p:sp>
          <p:nvSpPr>
            <p:cNvPr id="8" name="TextBox 8"/>
            <p:cNvSpPr txBox="1"/>
            <p:nvPr/>
          </p:nvSpPr>
          <p:spPr>
            <a:xfrm>
              <a:off x="0" y="-47625"/>
              <a:ext cx="1889865" cy="2756958"/>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814943" y="7650141"/>
            <a:ext cx="735393" cy="735393"/>
          </a:xfrm>
          <a:custGeom>
            <a:avLst/>
            <a:gdLst/>
            <a:ahLst/>
            <a:cxnLst/>
            <a:rect l="l" t="t" r="r" b="b"/>
            <a:pathLst>
              <a:path w="735393" h="735393">
                <a:moveTo>
                  <a:pt x="0" y="0"/>
                </a:moveTo>
                <a:lnTo>
                  <a:pt x="735393" y="0"/>
                </a:lnTo>
                <a:lnTo>
                  <a:pt x="735393" y="735394"/>
                </a:lnTo>
                <a:lnTo>
                  <a:pt x="0" y="7353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10" name="Freeform 10"/>
          <p:cNvSpPr/>
          <p:nvPr/>
        </p:nvSpPr>
        <p:spPr>
          <a:xfrm>
            <a:off x="15663997" y="7650141"/>
            <a:ext cx="735393" cy="735393"/>
          </a:xfrm>
          <a:custGeom>
            <a:avLst/>
            <a:gdLst/>
            <a:ahLst/>
            <a:cxnLst/>
            <a:rect l="l" t="t" r="r" b="b"/>
            <a:pathLst>
              <a:path w="735393" h="735393">
                <a:moveTo>
                  <a:pt x="0" y="0"/>
                </a:moveTo>
                <a:lnTo>
                  <a:pt x="735393" y="0"/>
                </a:lnTo>
                <a:lnTo>
                  <a:pt x="735393" y="735394"/>
                </a:lnTo>
                <a:lnTo>
                  <a:pt x="0" y="7353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1" name="Freeform 11"/>
          <p:cNvSpPr/>
          <p:nvPr/>
        </p:nvSpPr>
        <p:spPr>
          <a:xfrm>
            <a:off x="1028700" y="1028700"/>
            <a:ext cx="2034693" cy="1100995"/>
          </a:xfrm>
          <a:custGeom>
            <a:avLst/>
            <a:gdLst/>
            <a:ahLst/>
            <a:cxnLst/>
            <a:rect l="l" t="t" r="r" b="b"/>
            <a:pathLst>
              <a:path w="2034693" h="1100995">
                <a:moveTo>
                  <a:pt x="0" y="0"/>
                </a:moveTo>
                <a:lnTo>
                  <a:pt x="2034693" y="0"/>
                </a:lnTo>
                <a:lnTo>
                  <a:pt x="2034693" y="1100995"/>
                </a:lnTo>
                <a:lnTo>
                  <a:pt x="0" y="1100995"/>
                </a:lnTo>
                <a:lnTo>
                  <a:pt x="0" y="0"/>
                </a:lnTo>
                <a:close/>
              </a:path>
            </a:pathLst>
          </a:custGeom>
          <a:blipFill>
            <a:blip r:embed="rId5"/>
            <a:stretch>
              <a:fillRect/>
            </a:stretch>
          </a:blipFill>
        </p:spPr>
        <p:txBody>
          <a:bodyPr/>
          <a:lstStyle/>
          <a:p>
            <a:endParaRPr lang="en-GB"/>
          </a:p>
        </p:txBody>
      </p:sp>
      <p:sp>
        <p:nvSpPr>
          <p:cNvPr id="12" name="Freeform 12"/>
          <p:cNvSpPr/>
          <p:nvPr/>
        </p:nvSpPr>
        <p:spPr>
          <a:xfrm rot="-5321349">
            <a:off x="1244923" y="3722124"/>
            <a:ext cx="12268065" cy="2131968"/>
          </a:xfrm>
          <a:custGeom>
            <a:avLst/>
            <a:gdLst/>
            <a:ahLst/>
            <a:cxnLst/>
            <a:rect l="l" t="t" r="r" b="b"/>
            <a:pathLst>
              <a:path w="12268065" h="2131968">
                <a:moveTo>
                  <a:pt x="0" y="0"/>
                </a:moveTo>
                <a:lnTo>
                  <a:pt x="12268065" y="0"/>
                </a:lnTo>
                <a:lnTo>
                  <a:pt x="12268065" y="2131968"/>
                </a:lnTo>
                <a:lnTo>
                  <a:pt x="0" y="2131968"/>
                </a:lnTo>
                <a:lnTo>
                  <a:pt x="0" y="0"/>
                </a:lnTo>
                <a:close/>
              </a:path>
            </a:pathLst>
          </a:custGeom>
          <a:blipFill>
            <a:blip r:embed="rId6"/>
            <a:stretch>
              <a:fillRect t="-8961" b="-8961"/>
            </a:stretch>
          </a:blipFill>
        </p:spPr>
        <p:txBody>
          <a:bodyPr/>
          <a:lstStyle/>
          <a:p>
            <a:endParaRPr lang="en-GB"/>
          </a:p>
        </p:txBody>
      </p:sp>
      <p:sp>
        <p:nvSpPr>
          <p:cNvPr id="13" name="Freeform 13"/>
          <p:cNvSpPr/>
          <p:nvPr/>
        </p:nvSpPr>
        <p:spPr>
          <a:xfrm rot="-5321349">
            <a:off x="1244923" y="4077516"/>
            <a:ext cx="12268065" cy="2131968"/>
          </a:xfrm>
          <a:custGeom>
            <a:avLst/>
            <a:gdLst/>
            <a:ahLst/>
            <a:cxnLst/>
            <a:rect l="l" t="t" r="r" b="b"/>
            <a:pathLst>
              <a:path w="12268065" h="2131968">
                <a:moveTo>
                  <a:pt x="0" y="0"/>
                </a:moveTo>
                <a:lnTo>
                  <a:pt x="12268065" y="0"/>
                </a:lnTo>
                <a:lnTo>
                  <a:pt x="12268065" y="2131968"/>
                </a:lnTo>
                <a:lnTo>
                  <a:pt x="0" y="2131968"/>
                </a:lnTo>
                <a:lnTo>
                  <a:pt x="0" y="0"/>
                </a:lnTo>
                <a:close/>
              </a:path>
            </a:pathLst>
          </a:custGeom>
          <a:blipFill>
            <a:blip r:embed="rId6"/>
            <a:stretch>
              <a:fillRect t="-8961" b="-8961"/>
            </a:stretch>
          </a:blipFill>
        </p:spPr>
        <p:txBody>
          <a:bodyPr/>
          <a:lstStyle/>
          <a:p>
            <a:endParaRPr lang="en-GB"/>
          </a:p>
        </p:txBody>
      </p:sp>
      <p:grpSp>
        <p:nvGrpSpPr>
          <p:cNvPr id="14" name="Group 14"/>
          <p:cNvGrpSpPr/>
          <p:nvPr/>
        </p:nvGrpSpPr>
        <p:grpSpPr>
          <a:xfrm>
            <a:off x="0" y="8621864"/>
            <a:ext cx="18288000" cy="2841898"/>
            <a:chOff x="0" y="0"/>
            <a:chExt cx="4816593" cy="748483"/>
          </a:xfrm>
        </p:grpSpPr>
        <p:sp>
          <p:nvSpPr>
            <p:cNvPr id="15" name="Freeform 15"/>
            <p:cNvSpPr/>
            <p:nvPr/>
          </p:nvSpPr>
          <p:spPr>
            <a:xfrm>
              <a:off x="0" y="0"/>
              <a:ext cx="4816592" cy="748483"/>
            </a:xfrm>
            <a:custGeom>
              <a:avLst/>
              <a:gdLst/>
              <a:ahLst/>
              <a:cxnLst/>
              <a:rect l="l" t="t" r="r" b="b"/>
              <a:pathLst>
                <a:path w="4816592" h="748483">
                  <a:moveTo>
                    <a:pt x="0" y="0"/>
                  </a:moveTo>
                  <a:lnTo>
                    <a:pt x="4816592" y="0"/>
                  </a:lnTo>
                  <a:lnTo>
                    <a:pt x="4816592" y="748483"/>
                  </a:lnTo>
                  <a:lnTo>
                    <a:pt x="0" y="748483"/>
                  </a:lnTo>
                  <a:close/>
                </a:path>
              </a:pathLst>
            </a:custGeom>
            <a:solidFill>
              <a:srgbClr val="FFFFFF"/>
            </a:solidFill>
          </p:spPr>
          <p:txBody>
            <a:bodyPr/>
            <a:lstStyle/>
            <a:p>
              <a:endParaRPr lang="en-GB"/>
            </a:p>
          </p:txBody>
        </p:sp>
        <p:sp>
          <p:nvSpPr>
            <p:cNvPr id="16" name="TextBox 16"/>
            <p:cNvSpPr txBox="1"/>
            <p:nvPr/>
          </p:nvSpPr>
          <p:spPr>
            <a:xfrm>
              <a:off x="0" y="-38100"/>
              <a:ext cx="4816593" cy="786583"/>
            </a:xfrm>
            <a:prstGeom prst="rect">
              <a:avLst/>
            </a:prstGeom>
          </p:spPr>
          <p:txBody>
            <a:bodyPr lIns="50800" tIns="50800" rIns="50800" bIns="50800" rtlCol="0" anchor="ctr"/>
            <a:lstStyle/>
            <a:p>
              <a:pPr algn="ctr">
                <a:lnSpc>
                  <a:spcPts val="2940"/>
                </a:lnSpc>
              </a:pPr>
              <a:endParaRPr/>
            </a:p>
          </p:txBody>
        </p:sp>
      </p:grpSp>
      <p:grpSp>
        <p:nvGrpSpPr>
          <p:cNvPr id="17" name="Group 17"/>
          <p:cNvGrpSpPr/>
          <p:nvPr/>
        </p:nvGrpSpPr>
        <p:grpSpPr>
          <a:xfrm>
            <a:off x="4012782" y="8850636"/>
            <a:ext cx="10262435" cy="1070075"/>
            <a:chOff x="0" y="0"/>
            <a:chExt cx="13683247" cy="1426767"/>
          </a:xfrm>
        </p:grpSpPr>
        <p:sp>
          <p:nvSpPr>
            <p:cNvPr id="18" name="Freeform 18"/>
            <p:cNvSpPr/>
            <p:nvPr/>
          </p:nvSpPr>
          <p:spPr>
            <a:xfrm>
              <a:off x="7190014" y="329655"/>
              <a:ext cx="2367478" cy="767458"/>
            </a:xfrm>
            <a:custGeom>
              <a:avLst/>
              <a:gdLst/>
              <a:ahLst/>
              <a:cxnLst/>
              <a:rect l="l" t="t" r="r" b="b"/>
              <a:pathLst>
                <a:path w="2367478" h="767458">
                  <a:moveTo>
                    <a:pt x="0" y="0"/>
                  </a:moveTo>
                  <a:lnTo>
                    <a:pt x="2367478" y="0"/>
                  </a:lnTo>
                  <a:lnTo>
                    <a:pt x="2367478" y="767457"/>
                  </a:lnTo>
                  <a:lnTo>
                    <a:pt x="0" y="767457"/>
                  </a:lnTo>
                  <a:lnTo>
                    <a:pt x="0" y="0"/>
                  </a:lnTo>
                  <a:close/>
                </a:path>
              </a:pathLst>
            </a:custGeom>
            <a:blipFill>
              <a:blip r:embed="rId7"/>
              <a:stretch>
                <a:fillRect/>
              </a:stretch>
            </a:blipFill>
          </p:spPr>
          <p:txBody>
            <a:bodyPr/>
            <a:lstStyle/>
            <a:p>
              <a:endParaRPr lang="en-GB"/>
            </a:p>
          </p:txBody>
        </p:sp>
        <p:sp>
          <p:nvSpPr>
            <p:cNvPr id="19" name="Freeform 19"/>
            <p:cNvSpPr/>
            <p:nvPr/>
          </p:nvSpPr>
          <p:spPr>
            <a:xfrm>
              <a:off x="9771876" y="0"/>
              <a:ext cx="2006391" cy="1426767"/>
            </a:xfrm>
            <a:custGeom>
              <a:avLst/>
              <a:gdLst/>
              <a:ahLst/>
              <a:cxnLst/>
              <a:rect l="l" t="t" r="r" b="b"/>
              <a:pathLst>
                <a:path w="2006391" h="1426767">
                  <a:moveTo>
                    <a:pt x="0" y="0"/>
                  </a:moveTo>
                  <a:lnTo>
                    <a:pt x="2006391" y="0"/>
                  </a:lnTo>
                  <a:lnTo>
                    <a:pt x="2006391" y="1426767"/>
                  </a:lnTo>
                  <a:lnTo>
                    <a:pt x="0" y="1426767"/>
                  </a:lnTo>
                  <a:lnTo>
                    <a:pt x="0" y="0"/>
                  </a:lnTo>
                  <a:close/>
                </a:path>
              </a:pathLst>
            </a:custGeom>
            <a:blipFill>
              <a:blip r:embed="rId8"/>
              <a:stretch>
                <a:fillRect/>
              </a:stretch>
            </a:blipFill>
          </p:spPr>
          <p:txBody>
            <a:bodyPr/>
            <a:lstStyle/>
            <a:p>
              <a:endParaRPr lang="en-GB"/>
            </a:p>
          </p:txBody>
        </p:sp>
        <p:sp>
          <p:nvSpPr>
            <p:cNvPr id="20" name="Freeform 20"/>
            <p:cNvSpPr/>
            <p:nvPr/>
          </p:nvSpPr>
          <p:spPr>
            <a:xfrm>
              <a:off x="12000091" y="329655"/>
              <a:ext cx="1683155" cy="915637"/>
            </a:xfrm>
            <a:custGeom>
              <a:avLst/>
              <a:gdLst/>
              <a:ahLst/>
              <a:cxnLst/>
              <a:rect l="l" t="t" r="r" b="b"/>
              <a:pathLst>
                <a:path w="1683155" h="915637">
                  <a:moveTo>
                    <a:pt x="0" y="0"/>
                  </a:moveTo>
                  <a:lnTo>
                    <a:pt x="1683156" y="0"/>
                  </a:lnTo>
                  <a:lnTo>
                    <a:pt x="1683156" y="915636"/>
                  </a:lnTo>
                  <a:lnTo>
                    <a:pt x="0" y="915636"/>
                  </a:lnTo>
                  <a:lnTo>
                    <a:pt x="0" y="0"/>
                  </a:lnTo>
                  <a:close/>
                </a:path>
              </a:pathLst>
            </a:custGeom>
            <a:blipFill>
              <a:blip r:embed="rId9"/>
              <a:stretch>
                <a:fillRect/>
              </a:stretch>
            </a:blipFill>
          </p:spPr>
          <p:txBody>
            <a:bodyPr/>
            <a:lstStyle/>
            <a:p>
              <a:endParaRPr lang="en-GB"/>
            </a:p>
          </p:txBody>
        </p:sp>
        <p:sp>
          <p:nvSpPr>
            <p:cNvPr id="21" name="Freeform 21"/>
            <p:cNvSpPr/>
            <p:nvPr/>
          </p:nvSpPr>
          <p:spPr>
            <a:xfrm>
              <a:off x="0" y="88474"/>
              <a:ext cx="2362202" cy="1249819"/>
            </a:xfrm>
            <a:custGeom>
              <a:avLst/>
              <a:gdLst/>
              <a:ahLst/>
              <a:cxnLst/>
              <a:rect l="l" t="t" r="r" b="b"/>
              <a:pathLst>
                <a:path w="2362202" h="1249819">
                  <a:moveTo>
                    <a:pt x="0" y="0"/>
                  </a:moveTo>
                  <a:lnTo>
                    <a:pt x="2362202" y="0"/>
                  </a:lnTo>
                  <a:lnTo>
                    <a:pt x="2362202" y="1249819"/>
                  </a:lnTo>
                  <a:lnTo>
                    <a:pt x="0" y="1249819"/>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2" name="Freeform 22"/>
            <p:cNvSpPr/>
            <p:nvPr/>
          </p:nvSpPr>
          <p:spPr>
            <a:xfrm>
              <a:off x="4312060" y="490108"/>
              <a:ext cx="2265801" cy="446552"/>
            </a:xfrm>
            <a:custGeom>
              <a:avLst/>
              <a:gdLst/>
              <a:ahLst/>
              <a:cxnLst/>
              <a:rect l="l" t="t" r="r" b="b"/>
              <a:pathLst>
                <a:path w="2265801" h="446552">
                  <a:moveTo>
                    <a:pt x="0" y="0"/>
                  </a:moveTo>
                  <a:lnTo>
                    <a:pt x="2265801" y="0"/>
                  </a:lnTo>
                  <a:lnTo>
                    <a:pt x="2265801" y="446551"/>
                  </a:lnTo>
                  <a:lnTo>
                    <a:pt x="0" y="446551"/>
                  </a:lnTo>
                  <a:lnTo>
                    <a:pt x="0" y="0"/>
                  </a:lnTo>
                  <a:close/>
                </a:path>
              </a:pathLst>
            </a:custGeom>
            <a:blipFill>
              <a:blip r:embed="rId11"/>
              <a:stretch>
                <a:fillRect/>
              </a:stretch>
            </a:blipFill>
          </p:spPr>
          <p:txBody>
            <a:bodyPr/>
            <a:lstStyle/>
            <a:p>
              <a:endParaRPr lang="en-GB"/>
            </a:p>
          </p:txBody>
        </p:sp>
        <p:sp>
          <p:nvSpPr>
            <p:cNvPr id="23" name="Freeform 23"/>
            <p:cNvSpPr/>
            <p:nvPr/>
          </p:nvSpPr>
          <p:spPr>
            <a:xfrm>
              <a:off x="2526503" y="210020"/>
              <a:ext cx="1621256" cy="1006727"/>
            </a:xfrm>
            <a:custGeom>
              <a:avLst/>
              <a:gdLst/>
              <a:ahLst/>
              <a:cxnLst/>
              <a:rect l="l" t="t" r="r" b="b"/>
              <a:pathLst>
                <a:path w="1621256" h="1006727">
                  <a:moveTo>
                    <a:pt x="0" y="0"/>
                  </a:moveTo>
                  <a:lnTo>
                    <a:pt x="1621256" y="0"/>
                  </a:lnTo>
                  <a:lnTo>
                    <a:pt x="1621256" y="1006727"/>
                  </a:lnTo>
                  <a:lnTo>
                    <a:pt x="0" y="1006727"/>
                  </a:lnTo>
                  <a:lnTo>
                    <a:pt x="0" y="0"/>
                  </a:lnTo>
                  <a:close/>
                </a:path>
              </a:pathLst>
            </a:custGeom>
            <a:blipFill>
              <a:blip r:embed="rId12"/>
              <a:stretch>
                <a:fillRect/>
              </a:stretch>
            </a:blipFill>
          </p:spPr>
          <p:txBody>
            <a:bodyPr/>
            <a:lstStyle/>
            <a:p>
              <a:endParaRPr lang="en-GB"/>
            </a:p>
          </p:txBody>
        </p:sp>
        <p:sp>
          <p:nvSpPr>
            <p:cNvPr id="24" name="AutoShape 24"/>
            <p:cNvSpPr/>
            <p:nvPr/>
          </p:nvSpPr>
          <p:spPr>
            <a:xfrm flipH="1" flipV="1">
              <a:off x="6880350" y="88474"/>
              <a:ext cx="0" cy="1193355"/>
            </a:xfrm>
            <a:prstGeom prst="line">
              <a:avLst/>
            </a:prstGeom>
            <a:ln w="40332" cap="flat">
              <a:solidFill>
                <a:srgbClr val="000000"/>
              </a:solidFill>
              <a:prstDash val="solid"/>
              <a:headEnd type="none" w="sm" len="sm"/>
              <a:tailEnd type="none" w="sm" len="sm"/>
            </a:ln>
          </p:spPr>
          <p:txBody>
            <a:bodyPr/>
            <a:lstStyle/>
            <a:p>
              <a:endParaRPr lang="en-GB"/>
            </a:p>
          </p:txBody>
        </p:sp>
      </p:grpSp>
      <p:sp>
        <p:nvSpPr>
          <p:cNvPr id="25" name="TextBox 25"/>
          <p:cNvSpPr txBox="1"/>
          <p:nvPr/>
        </p:nvSpPr>
        <p:spPr>
          <a:xfrm>
            <a:off x="886107" y="2898298"/>
            <a:ext cx="5144226" cy="2350219"/>
          </a:xfrm>
          <a:prstGeom prst="rect">
            <a:avLst/>
          </a:prstGeom>
        </p:spPr>
        <p:txBody>
          <a:bodyPr lIns="0" tIns="0" rIns="0" bIns="0" rtlCol="0" anchor="t">
            <a:spAutoFit/>
          </a:bodyPr>
          <a:lstStyle/>
          <a:p>
            <a:pPr algn="l">
              <a:lnSpc>
                <a:spcPts val="5938"/>
              </a:lnSpc>
            </a:pPr>
            <a:r>
              <a:rPr lang="en-US" sz="7155">
                <a:solidFill>
                  <a:srgbClr val="FFFFFF"/>
                </a:solidFill>
                <a:latin typeface="Barlow Condensed"/>
                <a:ea typeface="Barlow Condensed"/>
                <a:cs typeface="Barlow Condensed"/>
                <a:sym typeface="Barlow Condensed"/>
              </a:rPr>
              <a:t>BECOMING A PLACE OF SOCIAL ACTION</a:t>
            </a:r>
          </a:p>
        </p:txBody>
      </p:sp>
      <p:sp>
        <p:nvSpPr>
          <p:cNvPr id="26" name="TextBox 26"/>
          <p:cNvSpPr txBox="1"/>
          <p:nvPr/>
        </p:nvSpPr>
        <p:spPr>
          <a:xfrm>
            <a:off x="10959871" y="7943635"/>
            <a:ext cx="3740771" cy="441900"/>
          </a:xfrm>
          <a:prstGeom prst="rect">
            <a:avLst/>
          </a:prstGeom>
        </p:spPr>
        <p:txBody>
          <a:bodyPr lIns="0" tIns="0" rIns="0" bIns="0" rtlCol="0" anchor="t">
            <a:spAutoFit/>
          </a:bodyPr>
          <a:lstStyle/>
          <a:p>
            <a:pPr algn="l">
              <a:lnSpc>
                <a:spcPts val="3157"/>
              </a:lnSpc>
            </a:pPr>
            <a:r>
              <a:rPr lang="en-US" sz="3804">
                <a:solidFill>
                  <a:srgbClr val="FFFFFF"/>
                </a:solidFill>
                <a:latin typeface="Barlow Condensed"/>
                <a:ea typeface="Barlow Condensed"/>
                <a:cs typeface="Barlow Condensed"/>
                <a:sym typeface="Barlow Condensed"/>
              </a:rPr>
              <a:t>@iWILL_MOVEMENT</a:t>
            </a:r>
          </a:p>
        </p:txBody>
      </p:sp>
      <p:sp>
        <p:nvSpPr>
          <p:cNvPr id="27" name="TextBox 27"/>
          <p:cNvSpPr txBox="1"/>
          <p:nvPr/>
        </p:nvSpPr>
        <p:spPr>
          <a:xfrm>
            <a:off x="886107" y="5943842"/>
            <a:ext cx="4445690" cy="601563"/>
          </a:xfrm>
          <a:prstGeom prst="rect">
            <a:avLst/>
          </a:prstGeom>
        </p:spPr>
        <p:txBody>
          <a:bodyPr lIns="0" tIns="0" rIns="0" bIns="0" rtlCol="0" anchor="t">
            <a:spAutoFit/>
          </a:bodyPr>
          <a:lstStyle/>
          <a:p>
            <a:pPr algn="l">
              <a:lnSpc>
                <a:spcPts val="4216"/>
              </a:lnSpc>
            </a:pPr>
            <a:r>
              <a:rPr lang="en-US" sz="5080">
                <a:solidFill>
                  <a:srgbClr val="000000"/>
                </a:solidFill>
                <a:latin typeface="Barlow Condensed"/>
                <a:ea typeface="Barlow Condensed"/>
                <a:cs typeface="Barlow Condensed"/>
                <a:sym typeface="Barlow Condensed"/>
              </a:rPr>
              <a:t>BRISTOL EDITION!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656710"/>
            <a:ext cx="11439094" cy="2165387"/>
          </a:xfrm>
          <a:prstGeom prst="rect">
            <a:avLst/>
          </a:prstGeom>
        </p:spPr>
        <p:txBody>
          <a:bodyPr lIns="0" tIns="0" rIns="0" bIns="0" rtlCol="0" anchor="t">
            <a:spAutoFit/>
          </a:bodyPr>
          <a:lstStyle/>
          <a:p>
            <a:pPr algn="l">
              <a:lnSpc>
                <a:spcPts val="8000"/>
              </a:lnSpc>
            </a:pPr>
            <a:r>
              <a:rPr lang="en-US" sz="10000" b="1">
                <a:solidFill>
                  <a:srgbClr val="FAC204"/>
                </a:solidFill>
                <a:latin typeface="Barlow Condensed Bold Bold"/>
                <a:ea typeface="Barlow Condensed Bold Bold"/>
                <a:cs typeface="Barlow Condensed Bold Bold"/>
                <a:sym typeface="Barlow Condensed Bold Bold"/>
              </a:rPr>
              <a:t>CORE PRINCIPLES OF THE #IWILL APPROACH</a:t>
            </a:r>
          </a:p>
        </p:txBody>
      </p:sp>
      <p:sp>
        <p:nvSpPr>
          <p:cNvPr id="3" name="TextBox 3"/>
          <p:cNvSpPr txBox="1"/>
          <p:nvPr/>
        </p:nvSpPr>
        <p:spPr>
          <a:xfrm>
            <a:off x="1028700" y="4280067"/>
            <a:ext cx="9822276" cy="4983099"/>
          </a:xfrm>
          <a:prstGeom prst="rect">
            <a:avLst/>
          </a:prstGeom>
        </p:spPr>
        <p:txBody>
          <a:bodyPr lIns="0" tIns="0" rIns="0" bIns="0" rtlCol="0" anchor="t">
            <a:spAutoFit/>
          </a:bodyPr>
          <a:lstStyle/>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Recognise and platform the positive contributions young people make in communities every day </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Connection, community, belonging and agency is foundational for youth led change </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Embed youth voice in places, not just within isolated projects or sectors. </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Focus on seeing the true power of young people, rather than just the associated problems that need fixing </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View and value youth social action as leadership and social mobility</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Understanding the critical value of hyper-local social action, building up to social action that radically transform systems. </a:t>
            </a:r>
          </a:p>
          <a:p>
            <a:pPr algn="l">
              <a:lnSpc>
                <a:spcPts val="2177"/>
              </a:lnSpc>
            </a:pPr>
            <a:endParaRPr lang="en-US" sz="2199" b="1">
              <a:solidFill>
                <a:srgbClr val="2B2E34"/>
              </a:solidFill>
              <a:latin typeface="PT Sans Bold"/>
              <a:ea typeface="PT Sans Bold"/>
              <a:cs typeface="PT Sans Bold"/>
              <a:sym typeface="PT Sans Bold"/>
            </a:endParaRPr>
          </a:p>
          <a:p>
            <a:pPr marL="474976" lvl="1" indent="-237488" algn="l">
              <a:lnSpc>
                <a:spcPts val="2177"/>
              </a:lnSpc>
              <a:buFont typeface="Arial"/>
              <a:buChar char="•"/>
            </a:pPr>
            <a:r>
              <a:rPr lang="en-US" sz="2199" b="1">
                <a:solidFill>
                  <a:srgbClr val="2B2E34"/>
                </a:solidFill>
                <a:latin typeface="PT Sans Bold"/>
                <a:ea typeface="PT Sans Bold"/>
                <a:cs typeface="PT Sans Bold"/>
                <a:sym typeface="PT Sans Bold"/>
              </a:rPr>
              <a:t>Big change comes through doing millions of little things, rather than through the next big thing. </a:t>
            </a:r>
          </a:p>
        </p:txBody>
      </p:sp>
      <p:sp>
        <p:nvSpPr>
          <p:cNvPr id="4" name="Freeform 4"/>
          <p:cNvSpPr/>
          <p:nvPr/>
        </p:nvSpPr>
        <p:spPr>
          <a:xfrm rot="-4644117">
            <a:off x="10526370" y="1349667"/>
            <a:ext cx="9702372" cy="9341661"/>
          </a:xfrm>
          <a:custGeom>
            <a:avLst/>
            <a:gdLst/>
            <a:ahLst/>
            <a:cxnLst/>
            <a:rect l="l" t="t" r="r" b="b"/>
            <a:pathLst>
              <a:path w="9702372" h="9341661">
                <a:moveTo>
                  <a:pt x="0" y="0"/>
                </a:moveTo>
                <a:lnTo>
                  <a:pt x="9702372" y="0"/>
                </a:lnTo>
                <a:lnTo>
                  <a:pt x="9702372" y="9341661"/>
                </a:lnTo>
                <a:lnTo>
                  <a:pt x="0" y="9341661"/>
                </a:lnTo>
                <a:lnTo>
                  <a:pt x="0" y="0"/>
                </a:lnTo>
                <a:close/>
              </a:path>
            </a:pathLst>
          </a:custGeom>
          <a:blipFill>
            <a:blip r:embed="rId3"/>
            <a:stretch>
              <a:fillRect/>
            </a:stretch>
          </a:blipFill>
        </p:spPr>
        <p:txBody>
          <a:bodyPr/>
          <a:lstStyle/>
          <a:p>
            <a:endParaRPr lang="en-GB"/>
          </a:p>
        </p:txBody>
      </p:sp>
      <p:sp>
        <p:nvSpPr>
          <p:cNvPr id="5" name="Freeform 5"/>
          <p:cNvSpPr/>
          <p:nvPr/>
        </p:nvSpPr>
        <p:spPr>
          <a:xfrm>
            <a:off x="12467111" y="619265"/>
            <a:ext cx="5820889" cy="10138794"/>
          </a:xfrm>
          <a:custGeom>
            <a:avLst/>
            <a:gdLst/>
            <a:ahLst/>
            <a:cxnLst/>
            <a:rect l="l" t="t" r="r" b="b"/>
            <a:pathLst>
              <a:path w="5820889" h="10138794">
                <a:moveTo>
                  <a:pt x="0" y="0"/>
                </a:moveTo>
                <a:lnTo>
                  <a:pt x="5820889" y="0"/>
                </a:lnTo>
                <a:lnTo>
                  <a:pt x="5820889" y="10138794"/>
                </a:lnTo>
                <a:lnTo>
                  <a:pt x="0" y="10138794"/>
                </a:lnTo>
                <a:lnTo>
                  <a:pt x="0" y="0"/>
                </a:lnTo>
                <a:close/>
              </a:path>
            </a:pathLst>
          </a:custGeom>
          <a:blipFill>
            <a:blip r:embed="rId4"/>
            <a:stretch>
              <a:fillRect l="-31384" t="-16691" r="-21054"/>
            </a:stretch>
          </a:blipFill>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15594" y="0"/>
            <a:ext cx="13716000" cy="10287000"/>
          </a:xfrm>
          <a:custGeom>
            <a:avLst/>
            <a:gdLst/>
            <a:ahLst/>
            <a:cxnLst/>
            <a:rect l="l" t="t" r="r" b="b"/>
            <a:pathLst>
              <a:path w="13716000" h="10287000">
                <a:moveTo>
                  <a:pt x="0" y="0"/>
                </a:moveTo>
                <a:lnTo>
                  <a:pt x="13716000" y="0"/>
                </a:lnTo>
                <a:lnTo>
                  <a:pt x="13716000" y="10287000"/>
                </a:lnTo>
                <a:lnTo>
                  <a:pt x="0" y="10287000"/>
                </a:lnTo>
                <a:lnTo>
                  <a:pt x="0" y="0"/>
                </a:lnTo>
                <a:close/>
              </a:path>
            </a:pathLst>
          </a:custGeom>
          <a:blipFill>
            <a:blip r:embed="rId3"/>
            <a:stretch>
              <a:fillRect/>
            </a:stretch>
          </a:blipFill>
        </p:spPr>
        <p:txBody>
          <a:bodyPr/>
          <a:lstStyle/>
          <a:p>
            <a:endParaRPr lang="en-GB"/>
          </a:p>
        </p:txBody>
      </p:sp>
      <p:grpSp>
        <p:nvGrpSpPr>
          <p:cNvPr id="3" name="Group 3"/>
          <p:cNvGrpSpPr/>
          <p:nvPr/>
        </p:nvGrpSpPr>
        <p:grpSpPr>
          <a:xfrm>
            <a:off x="0" y="0"/>
            <a:ext cx="7175583" cy="10287000"/>
            <a:chOff x="0" y="0"/>
            <a:chExt cx="1889865" cy="2709333"/>
          </a:xfrm>
        </p:grpSpPr>
        <p:sp>
          <p:nvSpPr>
            <p:cNvPr id="4" name="Freeform 4"/>
            <p:cNvSpPr/>
            <p:nvPr/>
          </p:nvSpPr>
          <p:spPr>
            <a:xfrm>
              <a:off x="0" y="0"/>
              <a:ext cx="1889865" cy="2709333"/>
            </a:xfrm>
            <a:custGeom>
              <a:avLst/>
              <a:gdLst/>
              <a:ahLst/>
              <a:cxnLst/>
              <a:rect l="l" t="t" r="r" b="b"/>
              <a:pathLst>
                <a:path w="1889865" h="2709333">
                  <a:moveTo>
                    <a:pt x="0" y="0"/>
                  </a:moveTo>
                  <a:lnTo>
                    <a:pt x="1889865" y="0"/>
                  </a:lnTo>
                  <a:lnTo>
                    <a:pt x="1889865" y="2709333"/>
                  </a:lnTo>
                  <a:lnTo>
                    <a:pt x="0" y="2709333"/>
                  </a:lnTo>
                  <a:close/>
                </a:path>
              </a:pathLst>
            </a:custGeom>
            <a:solidFill>
              <a:srgbClr val="FAC204"/>
            </a:solidFill>
          </p:spPr>
          <p:txBody>
            <a:bodyPr/>
            <a:lstStyle/>
            <a:p>
              <a:endParaRPr lang="en-GB"/>
            </a:p>
          </p:txBody>
        </p:sp>
        <p:sp>
          <p:nvSpPr>
            <p:cNvPr id="5" name="TextBox 5"/>
            <p:cNvSpPr txBox="1"/>
            <p:nvPr/>
          </p:nvSpPr>
          <p:spPr>
            <a:xfrm>
              <a:off x="0" y="-47625"/>
              <a:ext cx="1889865" cy="275695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3976743" y="8522907"/>
            <a:ext cx="735393" cy="735393"/>
          </a:xfrm>
          <a:custGeom>
            <a:avLst/>
            <a:gdLst/>
            <a:ahLst/>
            <a:cxnLst/>
            <a:rect l="l" t="t" r="r" b="b"/>
            <a:pathLst>
              <a:path w="735393" h="735393">
                <a:moveTo>
                  <a:pt x="0" y="0"/>
                </a:moveTo>
                <a:lnTo>
                  <a:pt x="735393" y="0"/>
                </a:lnTo>
                <a:lnTo>
                  <a:pt x="735393" y="735393"/>
                </a:lnTo>
                <a:lnTo>
                  <a:pt x="0" y="7353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7" name="Freeform 7"/>
          <p:cNvSpPr/>
          <p:nvPr/>
        </p:nvSpPr>
        <p:spPr>
          <a:xfrm>
            <a:off x="14825797" y="8522907"/>
            <a:ext cx="735393" cy="735393"/>
          </a:xfrm>
          <a:custGeom>
            <a:avLst/>
            <a:gdLst/>
            <a:ahLst/>
            <a:cxnLst/>
            <a:rect l="l" t="t" r="r" b="b"/>
            <a:pathLst>
              <a:path w="735393" h="735393">
                <a:moveTo>
                  <a:pt x="0" y="0"/>
                </a:moveTo>
                <a:lnTo>
                  <a:pt x="735393" y="0"/>
                </a:lnTo>
                <a:lnTo>
                  <a:pt x="735393" y="735393"/>
                </a:lnTo>
                <a:lnTo>
                  <a:pt x="0" y="73539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Freeform 8"/>
          <p:cNvSpPr/>
          <p:nvPr/>
        </p:nvSpPr>
        <p:spPr>
          <a:xfrm>
            <a:off x="15674852" y="8522907"/>
            <a:ext cx="735393" cy="735393"/>
          </a:xfrm>
          <a:custGeom>
            <a:avLst/>
            <a:gdLst/>
            <a:ahLst/>
            <a:cxnLst/>
            <a:rect l="l" t="t" r="r" b="b"/>
            <a:pathLst>
              <a:path w="735393" h="735393">
                <a:moveTo>
                  <a:pt x="0" y="0"/>
                </a:moveTo>
                <a:lnTo>
                  <a:pt x="735393" y="0"/>
                </a:lnTo>
                <a:lnTo>
                  <a:pt x="735393" y="735393"/>
                </a:lnTo>
                <a:lnTo>
                  <a:pt x="0" y="73539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 name="Freeform 9"/>
          <p:cNvSpPr/>
          <p:nvPr/>
        </p:nvSpPr>
        <p:spPr>
          <a:xfrm>
            <a:off x="1028700" y="1028700"/>
            <a:ext cx="2034693" cy="1100995"/>
          </a:xfrm>
          <a:custGeom>
            <a:avLst/>
            <a:gdLst/>
            <a:ahLst/>
            <a:cxnLst/>
            <a:rect l="l" t="t" r="r" b="b"/>
            <a:pathLst>
              <a:path w="2034693" h="1100995">
                <a:moveTo>
                  <a:pt x="0" y="0"/>
                </a:moveTo>
                <a:lnTo>
                  <a:pt x="2034693" y="0"/>
                </a:lnTo>
                <a:lnTo>
                  <a:pt x="2034693" y="1100995"/>
                </a:lnTo>
                <a:lnTo>
                  <a:pt x="0" y="1100995"/>
                </a:lnTo>
                <a:lnTo>
                  <a:pt x="0" y="0"/>
                </a:lnTo>
                <a:close/>
              </a:path>
            </a:pathLst>
          </a:custGeom>
          <a:blipFill>
            <a:blip r:embed="rId7"/>
            <a:stretch>
              <a:fillRect/>
            </a:stretch>
          </a:blipFill>
        </p:spPr>
        <p:txBody>
          <a:bodyPr/>
          <a:lstStyle/>
          <a:p>
            <a:endParaRPr lang="en-GB"/>
          </a:p>
        </p:txBody>
      </p:sp>
      <p:sp>
        <p:nvSpPr>
          <p:cNvPr id="10" name="Freeform 10"/>
          <p:cNvSpPr/>
          <p:nvPr/>
        </p:nvSpPr>
        <p:spPr>
          <a:xfrm rot="-5321349">
            <a:off x="1244923" y="3722124"/>
            <a:ext cx="12268065" cy="2131968"/>
          </a:xfrm>
          <a:custGeom>
            <a:avLst/>
            <a:gdLst/>
            <a:ahLst/>
            <a:cxnLst/>
            <a:rect l="l" t="t" r="r" b="b"/>
            <a:pathLst>
              <a:path w="12268065" h="2131968">
                <a:moveTo>
                  <a:pt x="0" y="0"/>
                </a:moveTo>
                <a:lnTo>
                  <a:pt x="12268065" y="0"/>
                </a:lnTo>
                <a:lnTo>
                  <a:pt x="12268065" y="2131968"/>
                </a:lnTo>
                <a:lnTo>
                  <a:pt x="0" y="2131968"/>
                </a:lnTo>
                <a:lnTo>
                  <a:pt x="0" y="0"/>
                </a:lnTo>
                <a:close/>
              </a:path>
            </a:pathLst>
          </a:custGeom>
          <a:blipFill>
            <a:blip r:embed="rId8"/>
            <a:stretch>
              <a:fillRect t="-8961" b="-8961"/>
            </a:stretch>
          </a:blipFill>
        </p:spPr>
        <p:txBody>
          <a:bodyPr/>
          <a:lstStyle/>
          <a:p>
            <a:endParaRPr lang="en-GB"/>
          </a:p>
        </p:txBody>
      </p:sp>
      <p:sp>
        <p:nvSpPr>
          <p:cNvPr id="11" name="Freeform 11"/>
          <p:cNvSpPr/>
          <p:nvPr/>
        </p:nvSpPr>
        <p:spPr>
          <a:xfrm rot="-5321349">
            <a:off x="1244923" y="4077516"/>
            <a:ext cx="12268065" cy="2131968"/>
          </a:xfrm>
          <a:custGeom>
            <a:avLst/>
            <a:gdLst/>
            <a:ahLst/>
            <a:cxnLst/>
            <a:rect l="l" t="t" r="r" b="b"/>
            <a:pathLst>
              <a:path w="12268065" h="2131968">
                <a:moveTo>
                  <a:pt x="0" y="0"/>
                </a:moveTo>
                <a:lnTo>
                  <a:pt x="12268065" y="0"/>
                </a:lnTo>
                <a:lnTo>
                  <a:pt x="12268065" y="2131968"/>
                </a:lnTo>
                <a:lnTo>
                  <a:pt x="0" y="2131968"/>
                </a:lnTo>
                <a:lnTo>
                  <a:pt x="0" y="0"/>
                </a:lnTo>
                <a:close/>
              </a:path>
            </a:pathLst>
          </a:custGeom>
          <a:blipFill>
            <a:blip r:embed="rId8"/>
            <a:stretch>
              <a:fillRect t="-8961" b="-8961"/>
            </a:stretch>
          </a:blipFill>
        </p:spPr>
        <p:txBody>
          <a:bodyPr/>
          <a:lstStyle/>
          <a:p>
            <a:endParaRPr lang="en-GB"/>
          </a:p>
        </p:txBody>
      </p:sp>
      <p:sp>
        <p:nvSpPr>
          <p:cNvPr id="12" name="TextBox 12"/>
          <p:cNvSpPr txBox="1"/>
          <p:nvPr/>
        </p:nvSpPr>
        <p:spPr>
          <a:xfrm>
            <a:off x="1028700" y="3810010"/>
            <a:ext cx="6146883" cy="3261841"/>
          </a:xfrm>
          <a:prstGeom prst="rect">
            <a:avLst/>
          </a:prstGeom>
        </p:spPr>
        <p:txBody>
          <a:bodyPr lIns="0" tIns="0" rIns="0" bIns="0" rtlCol="0" anchor="t">
            <a:spAutoFit/>
          </a:bodyPr>
          <a:lstStyle/>
          <a:p>
            <a:pPr algn="l">
              <a:lnSpc>
                <a:spcPts val="8319"/>
              </a:lnSpc>
            </a:pPr>
            <a:r>
              <a:rPr lang="en-US" sz="10023">
                <a:solidFill>
                  <a:srgbClr val="FFFFFF"/>
                </a:solidFill>
                <a:latin typeface="Barlow Condensed"/>
                <a:ea typeface="Barlow Condensed"/>
                <a:cs typeface="Barlow Condensed"/>
                <a:sym typeface="Barlow Condensed"/>
              </a:rPr>
              <a:t>GETTING STARTED IN YOUR PLACE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51198"/>
            <a:ext cx="8808816" cy="3175037"/>
          </a:xfrm>
          <a:prstGeom prst="rect">
            <a:avLst/>
          </a:prstGeom>
        </p:spPr>
        <p:txBody>
          <a:bodyPr lIns="0" tIns="0" rIns="0" bIns="0" rtlCol="0" anchor="t">
            <a:spAutoFit/>
          </a:bodyPr>
          <a:lstStyle/>
          <a:p>
            <a:pPr algn="l">
              <a:lnSpc>
                <a:spcPts val="8000"/>
              </a:lnSpc>
            </a:pPr>
            <a:r>
              <a:rPr lang="en-US" sz="10000" b="1">
                <a:solidFill>
                  <a:srgbClr val="FAC204"/>
                </a:solidFill>
                <a:latin typeface="Barlow Condensed Bold Bold"/>
                <a:ea typeface="Barlow Condensed Bold Bold"/>
                <a:cs typeface="Barlow Condensed Bold Bold"/>
                <a:sym typeface="Barlow Condensed Bold Bold"/>
              </a:rPr>
              <a:t>WHY YOUTH-LED PLACE-BASED CHANGE MATTERS</a:t>
            </a:r>
          </a:p>
        </p:txBody>
      </p:sp>
      <p:sp>
        <p:nvSpPr>
          <p:cNvPr id="3" name="TextBox 3"/>
          <p:cNvSpPr txBox="1"/>
          <p:nvPr/>
        </p:nvSpPr>
        <p:spPr>
          <a:xfrm>
            <a:off x="1028700" y="5134480"/>
            <a:ext cx="9504313" cy="2335958"/>
          </a:xfrm>
          <a:prstGeom prst="rect">
            <a:avLst/>
          </a:prstGeom>
        </p:spPr>
        <p:txBody>
          <a:bodyPr lIns="0" tIns="0" rIns="0" bIns="0" rtlCol="0" anchor="t">
            <a:spAutoFit/>
          </a:bodyPr>
          <a:lstStyle/>
          <a:p>
            <a:pPr algn="just">
              <a:lnSpc>
                <a:spcPts val="3014"/>
              </a:lnSpc>
            </a:pPr>
            <a:r>
              <a:rPr lang="en-US" sz="3464">
                <a:solidFill>
                  <a:srgbClr val="2B2E34"/>
                </a:solidFill>
                <a:latin typeface="Barlow Condensed"/>
                <a:ea typeface="Barlow Condensed"/>
                <a:cs typeface="Barlow Condensed"/>
                <a:sym typeface="Barlow Condensed"/>
              </a:rPr>
              <a:t>“OUR EXPERIENCES AND EXPERTISE ARE CRITICAL TO CREATING THE SOCIAL CHANGE WE ALL NEED IN OUR LIVES. AND WE NEED TO EQUIP AND ENABLE YOUNG PEOPLE TO SHAPE AND LEAD THAT LOCAL CHANGE” </a:t>
            </a:r>
          </a:p>
          <a:p>
            <a:pPr algn="just">
              <a:lnSpc>
                <a:spcPts val="3014"/>
              </a:lnSpc>
            </a:pPr>
            <a:endParaRPr lang="en-US" sz="3464">
              <a:solidFill>
                <a:srgbClr val="2B2E34"/>
              </a:solidFill>
              <a:latin typeface="Barlow Condensed"/>
              <a:ea typeface="Barlow Condensed"/>
              <a:cs typeface="Barlow Condensed"/>
              <a:sym typeface="Barlow Condensed"/>
            </a:endParaRPr>
          </a:p>
          <a:p>
            <a:pPr algn="just">
              <a:lnSpc>
                <a:spcPts val="3014"/>
              </a:lnSpc>
            </a:pPr>
            <a:r>
              <a:rPr lang="en-US" sz="3464">
                <a:solidFill>
                  <a:srgbClr val="FAC204"/>
                </a:solidFill>
                <a:latin typeface="Barlow Condensed"/>
                <a:ea typeface="Barlow Condensed"/>
                <a:cs typeface="Barlow Condensed"/>
                <a:sym typeface="Barlow Condensed"/>
              </a:rPr>
              <a:t>#IWILL AMBASSADOR </a:t>
            </a:r>
          </a:p>
        </p:txBody>
      </p:sp>
      <p:sp>
        <p:nvSpPr>
          <p:cNvPr id="4" name="Freeform 4"/>
          <p:cNvSpPr/>
          <p:nvPr/>
        </p:nvSpPr>
        <p:spPr>
          <a:xfrm rot="-2700000">
            <a:off x="8782383" y="3410064"/>
            <a:ext cx="11156955" cy="7488513"/>
          </a:xfrm>
          <a:custGeom>
            <a:avLst/>
            <a:gdLst/>
            <a:ahLst/>
            <a:cxnLst/>
            <a:rect l="l" t="t" r="r" b="b"/>
            <a:pathLst>
              <a:path w="11156955" h="7488513">
                <a:moveTo>
                  <a:pt x="0" y="0"/>
                </a:moveTo>
                <a:lnTo>
                  <a:pt x="11156954" y="0"/>
                </a:lnTo>
                <a:lnTo>
                  <a:pt x="11156954" y="7488513"/>
                </a:lnTo>
                <a:lnTo>
                  <a:pt x="0" y="7488513"/>
                </a:lnTo>
                <a:lnTo>
                  <a:pt x="0" y="0"/>
                </a:lnTo>
                <a:close/>
              </a:path>
            </a:pathLst>
          </a:custGeom>
          <a:blipFill>
            <a:blip r:embed="rId3"/>
            <a:stretch>
              <a:fillRect/>
            </a:stretch>
          </a:blipFill>
        </p:spPr>
        <p:txBody>
          <a:bodyPr/>
          <a:lstStyle/>
          <a:p>
            <a:endParaRPr lang="en-GB"/>
          </a:p>
        </p:txBody>
      </p:sp>
      <p:sp>
        <p:nvSpPr>
          <p:cNvPr id="5" name="Freeform 5"/>
          <p:cNvSpPr/>
          <p:nvPr/>
        </p:nvSpPr>
        <p:spPr>
          <a:xfrm>
            <a:off x="11769288" y="989248"/>
            <a:ext cx="8631318" cy="9297752"/>
          </a:xfrm>
          <a:custGeom>
            <a:avLst/>
            <a:gdLst/>
            <a:ahLst/>
            <a:cxnLst/>
            <a:rect l="l" t="t" r="r" b="b"/>
            <a:pathLst>
              <a:path w="8631318" h="9297752">
                <a:moveTo>
                  <a:pt x="0" y="0"/>
                </a:moveTo>
                <a:lnTo>
                  <a:pt x="8631318" y="0"/>
                </a:lnTo>
                <a:lnTo>
                  <a:pt x="8631318" y="9297752"/>
                </a:lnTo>
                <a:lnTo>
                  <a:pt x="0" y="9297752"/>
                </a:lnTo>
                <a:lnTo>
                  <a:pt x="0" y="0"/>
                </a:lnTo>
                <a:close/>
              </a:path>
            </a:pathLst>
          </a:custGeom>
          <a:blipFill>
            <a:blip r:embed="rId4"/>
            <a:stretch>
              <a:fillRect t="-23776"/>
            </a:stretch>
          </a:blipFill>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097593">
            <a:off x="10221459" y="1915862"/>
            <a:ext cx="9702372" cy="9341661"/>
          </a:xfrm>
          <a:custGeom>
            <a:avLst/>
            <a:gdLst/>
            <a:ahLst/>
            <a:cxnLst/>
            <a:rect l="l" t="t" r="r" b="b"/>
            <a:pathLst>
              <a:path w="9702372" h="9341661">
                <a:moveTo>
                  <a:pt x="0" y="0"/>
                </a:moveTo>
                <a:lnTo>
                  <a:pt x="9702371" y="0"/>
                </a:lnTo>
                <a:lnTo>
                  <a:pt x="9702371" y="9341662"/>
                </a:lnTo>
                <a:lnTo>
                  <a:pt x="0" y="9341662"/>
                </a:lnTo>
                <a:lnTo>
                  <a:pt x="0" y="0"/>
                </a:lnTo>
                <a:close/>
              </a:path>
            </a:pathLst>
          </a:custGeom>
          <a:blipFill>
            <a:blip r:embed="rId2"/>
            <a:stretch>
              <a:fillRect/>
            </a:stretch>
          </a:blipFill>
        </p:spPr>
        <p:txBody>
          <a:bodyPr/>
          <a:lstStyle/>
          <a:p>
            <a:endParaRPr lang="en-GB"/>
          </a:p>
        </p:txBody>
      </p:sp>
      <p:sp>
        <p:nvSpPr>
          <p:cNvPr id="3" name="Freeform 3"/>
          <p:cNvSpPr/>
          <p:nvPr/>
        </p:nvSpPr>
        <p:spPr>
          <a:xfrm>
            <a:off x="12652225" y="3822097"/>
            <a:ext cx="4840840" cy="4840840"/>
          </a:xfrm>
          <a:custGeom>
            <a:avLst/>
            <a:gdLst/>
            <a:ahLst/>
            <a:cxnLst/>
            <a:rect l="l" t="t" r="r" b="b"/>
            <a:pathLst>
              <a:path w="4840840" h="4840840">
                <a:moveTo>
                  <a:pt x="0" y="0"/>
                </a:moveTo>
                <a:lnTo>
                  <a:pt x="4840839" y="0"/>
                </a:lnTo>
                <a:lnTo>
                  <a:pt x="4840839" y="4840840"/>
                </a:lnTo>
                <a:lnTo>
                  <a:pt x="0" y="4840840"/>
                </a:lnTo>
                <a:lnTo>
                  <a:pt x="0" y="0"/>
                </a:lnTo>
                <a:close/>
              </a:path>
            </a:pathLst>
          </a:custGeom>
          <a:blipFill>
            <a:blip r:embed="rId3"/>
            <a:stretch>
              <a:fillRect/>
            </a:stretch>
          </a:blipFill>
        </p:spPr>
        <p:txBody>
          <a:bodyPr/>
          <a:lstStyle/>
          <a:p>
            <a:endParaRPr lang="en-GB"/>
          </a:p>
        </p:txBody>
      </p:sp>
      <p:sp>
        <p:nvSpPr>
          <p:cNvPr id="4" name="TextBox 4"/>
          <p:cNvSpPr txBox="1"/>
          <p:nvPr/>
        </p:nvSpPr>
        <p:spPr>
          <a:xfrm>
            <a:off x="1028700" y="1656710"/>
            <a:ext cx="13618272" cy="2165387"/>
          </a:xfrm>
          <a:prstGeom prst="rect">
            <a:avLst/>
          </a:prstGeom>
        </p:spPr>
        <p:txBody>
          <a:bodyPr lIns="0" tIns="0" rIns="0" bIns="0" rtlCol="0" anchor="t">
            <a:spAutoFit/>
          </a:bodyPr>
          <a:lstStyle/>
          <a:p>
            <a:pPr algn="l">
              <a:lnSpc>
                <a:spcPts val="8000"/>
              </a:lnSpc>
            </a:pPr>
            <a:r>
              <a:rPr lang="en-US" sz="10000" b="1">
                <a:solidFill>
                  <a:srgbClr val="000000"/>
                </a:solidFill>
                <a:latin typeface="Barlow Condensed Bold Bold"/>
                <a:ea typeface="Barlow Condensed Bold Bold"/>
                <a:cs typeface="Barlow Condensed Bold Bold"/>
                <a:sym typeface="Barlow Condensed Bold Bold"/>
              </a:rPr>
              <a:t>COMMIT TO EMPOWERING YOUNG PEOPLE IN BRISTOL</a:t>
            </a:r>
          </a:p>
        </p:txBody>
      </p:sp>
      <p:sp>
        <p:nvSpPr>
          <p:cNvPr id="5" name="TextBox 5"/>
          <p:cNvSpPr txBox="1"/>
          <p:nvPr/>
        </p:nvSpPr>
        <p:spPr>
          <a:xfrm>
            <a:off x="1028700" y="4582310"/>
            <a:ext cx="10330482" cy="3406138"/>
          </a:xfrm>
          <a:prstGeom prst="rect">
            <a:avLst/>
          </a:prstGeom>
        </p:spPr>
        <p:txBody>
          <a:bodyPr lIns="0" tIns="0" rIns="0" bIns="0" rtlCol="0" anchor="t">
            <a:spAutoFit/>
          </a:bodyPr>
          <a:lstStyle/>
          <a:p>
            <a:pPr marL="971534" lvl="1" indent="-485767" algn="l">
              <a:lnSpc>
                <a:spcPts val="4454"/>
              </a:lnSpc>
              <a:buFont typeface="Arial"/>
              <a:buChar char="•"/>
            </a:pPr>
            <a:r>
              <a:rPr lang="en-US" sz="4499" b="1">
                <a:solidFill>
                  <a:srgbClr val="2B2E34"/>
                </a:solidFill>
                <a:latin typeface="PT Sans Bold"/>
                <a:ea typeface="PT Sans Bold"/>
                <a:cs typeface="PT Sans Bold"/>
                <a:sym typeface="PT Sans Bold"/>
              </a:rPr>
              <a:t>Sign the power of youth charter</a:t>
            </a:r>
          </a:p>
          <a:p>
            <a:pPr algn="l">
              <a:lnSpc>
                <a:spcPts val="4454"/>
              </a:lnSpc>
            </a:pPr>
            <a:endParaRPr lang="en-US" sz="4499" b="1">
              <a:solidFill>
                <a:srgbClr val="2B2E34"/>
              </a:solidFill>
              <a:latin typeface="PT Sans Bold"/>
              <a:ea typeface="PT Sans Bold"/>
              <a:cs typeface="PT Sans Bold"/>
              <a:sym typeface="PT Sans Bold"/>
            </a:endParaRPr>
          </a:p>
          <a:p>
            <a:pPr marL="971534" lvl="1" indent="-485767" algn="l">
              <a:lnSpc>
                <a:spcPts val="4454"/>
              </a:lnSpc>
              <a:buFont typeface="Arial"/>
              <a:buChar char="•"/>
            </a:pPr>
            <a:r>
              <a:rPr lang="en-US" sz="4499" b="1">
                <a:solidFill>
                  <a:srgbClr val="2B2E34"/>
                </a:solidFill>
                <a:latin typeface="PT Sans Bold"/>
                <a:ea typeface="PT Sans Bold"/>
                <a:cs typeface="PT Sans Bold"/>
                <a:sym typeface="PT Sans Bold"/>
              </a:rPr>
              <a:t>Join Creative Youth Network in championing the movement in Bristol</a:t>
            </a:r>
          </a:p>
          <a:p>
            <a:pPr algn="l">
              <a:lnSpc>
                <a:spcPts val="4454"/>
              </a:lnSpc>
            </a:pPr>
            <a:endParaRPr lang="en-US" sz="4499" b="1">
              <a:solidFill>
                <a:srgbClr val="2B2E34"/>
              </a:solidFill>
              <a:latin typeface="PT Sans Bold"/>
              <a:ea typeface="PT Sans Bold"/>
              <a:cs typeface="PT Sans Bold"/>
              <a:sym typeface="PT Sans Bold"/>
            </a:endParaRPr>
          </a:p>
          <a:p>
            <a:pPr marL="971534" lvl="1" indent="-485767" algn="l">
              <a:lnSpc>
                <a:spcPts val="4454"/>
              </a:lnSpc>
              <a:buFont typeface="Arial"/>
              <a:buChar char="•"/>
            </a:pPr>
            <a:r>
              <a:rPr lang="en-US" sz="4499" b="1">
                <a:solidFill>
                  <a:srgbClr val="2B2E34"/>
                </a:solidFill>
                <a:latin typeface="PT Sans Bold"/>
                <a:ea typeface="PT Sans Bold"/>
                <a:cs typeface="PT Sans Bold"/>
                <a:sym typeface="PT Sans Bold"/>
              </a:rPr>
              <a:t>Apply to become an ambassador</a:t>
            </a:r>
          </a:p>
        </p:txBody>
      </p:sp>
      <p:sp>
        <p:nvSpPr>
          <p:cNvPr id="6" name="Freeform 6"/>
          <p:cNvSpPr/>
          <p:nvPr/>
        </p:nvSpPr>
        <p:spPr>
          <a:xfrm rot="2226825">
            <a:off x="9444913" y="3481762"/>
            <a:ext cx="3074929" cy="2029646"/>
          </a:xfrm>
          <a:custGeom>
            <a:avLst/>
            <a:gdLst/>
            <a:ahLst/>
            <a:cxnLst/>
            <a:rect l="l" t="t" r="r" b="b"/>
            <a:pathLst>
              <a:path w="3074929" h="2029646">
                <a:moveTo>
                  <a:pt x="0" y="0"/>
                </a:moveTo>
                <a:lnTo>
                  <a:pt x="3074929" y="0"/>
                </a:lnTo>
                <a:lnTo>
                  <a:pt x="3074929" y="2029646"/>
                </a:lnTo>
                <a:lnTo>
                  <a:pt x="0" y="2029646"/>
                </a:lnTo>
                <a:lnTo>
                  <a:pt x="0" y="0"/>
                </a:lnTo>
                <a:close/>
              </a:path>
            </a:pathLst>
          </a:custGeom>
          <a:blipFill>
            <a:blip r:embed="rId4"/>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349</Words>
  <Application>Microsoft Office PowerPoint</Application>
  <PresentationFormat>Custom</PresentationFormat>
  <Paragraphs>40</Paragraphs>
  <Slides>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Barlow Condensed Bold Bold</vt:lpstr>
      <vt:lpstr>Arial</vt:lpstr>
      <vt:lpstr>Barlow Condensed</vt:lpstr>
      <vt:lpstr>Calibri</vt:lpstr>
      <vt:lpstr>PT Sans Bold</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#iwill Bristol Slides</dc:title>
  <cp:lastModifiedBy>Kate Webb</cp:lastModifiedBy>
  <cp:revision>2</cp:revision>
  <dcterms:created xsi:type="dcterms:W3CDTF">2006-08-16T00:00:00Z</dcterms:created>
  <dcterms:modified xsi:type="dcterms:W3CDTF">2026-10-05T09:42:00Z</dcterms:modified>
  <dc:identifier>DAG4_taORF4</dc:identifier>
</cp:coreProperties>
</file>